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b9236433844b46" /><Relationship Type="http://schemas.openxmlformats.org/officeDocument/2006/relationships/extended-properties" Target="/docProps/app.xml" Id="Rdb612dfa55e44a2f" /><Relationship Type="http://schemas.openxmlformats.org/officeDocument/2006/relationships/officeDocument" Target="/ppt/presentation.xml" Id="R7f3651e9349948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67e46d393e435b"/>
  </p:sldMasterIdLst>
  <p:notesMasterIdLst>
    <p:notesMasterId xmlns:r="http://schemas.openxmlformats.org/officeDocument/2006/relationships" r:id="R9ecf369845cf49d2"/>
  </p:notesMasterIdLst>
  <p:sldIdLst>
    <p:sldId xmlns:r="http://schemas.openxmlformats.org/officeDocument/2006/relationships" id="256" r:id="Rc141c6952d90438a"/>
    <p:sldId xmlns:r="http://schemas.openxmlformats.org/officeDocument/2006/relationships" id="257" r:id="Rbe26cd92fdef4409"/>
    <p:sldId xmlns:r="http://schemas.openxmlformats.org/officeDocument/2006/relationships" id="258" r:id="R64504bad33b94c72"/>
    <p:sldId xmlns:r="http://schemas.openxmlformats.org/officeDocument/2006/relationships" id="259" r:id="Redd8344baae74f68"/>
    <p:sldId xmlns:r="http://schemas.openxmlformats.org/officeDocument/2006/relationships" id="260" r:id="Rc410ea47b05a4f96"/>
    <p:sldId xmlns:r="http://schemas.openxmlformats.org/officeDocument/2006/relationships" id="261" r:id="R479ed46c527d449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fcf42d313f4733" /><Relationship Type="http://schemas.openxmlformats.org/officeDocument/2006/relationships/slideMaster" Target="/ppt/slideMasters/slideMaster1.xml" Id="R5367e46d393e435b" /><Relationship Type="http://schemas.openxmlformats.org/officeDocument/2006/relationships/notesMaster" Target="/ppt/notesMasters/notesMaster1.xml" Id="R9ecf369845cf49d2" /><Relationship Type="http://schemas.openxmlformats.org/officeDocument/2006/relationships/presProps" Target="/ppt/presProps.xml" Id="R52ca637e862848b9" /><Relationship Type="http://schemas.openxmlformats.org/officeDocument/2006/relationships/tableStyles" Target="/ppt/tableStyles.xml" Id="R48ecb6bab2ee4b4f" /><Relationship Type="http://schemas.openxmlformats.org/officeDocument/2006/relationships/slide" Target="/ppt/slides/slide1.xml" Id="Rc141c6952d90438a" /><Relationship Type="http://schemas.openxmlformats.org/officeDocument/2006/relationships/slide" Target="/ppt/slides/slide2.xml" Id="Rbe26cd92fdef4409" /><Relationship Type="http://schemas.openxmlformats.org/officeDocument/2006/relationships/slide" Target="/ppt/slides/slide3.xml" Id="R64504bad33b94c72" /><Relationship Type="http://schemas.openxmlformats.org/officeDocument/2006/relationships/slide" Target="/ppt/slides/slide4.xml" Id="Redd8344baae74f68" /><Relationship Type="http://schemas.openxmlformats.org/officeDocument/2006/relationships/slide" Target="/ppt/slides/slide5.xml" Id="Rc410ea47b05a4f96" /><Relationship Type="http://schemas.openxmlformats.org/officeDocument/2006/relationships/slide" Target="/ppt/slides/slide6.xml" Id="R479ed46c527d44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9b406c5be045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9b6af2c9554448" /><Relationship Type="http://schemas.openxmlformats.org/officeDocument/2006/relationships/notesMaster" Target="/ppt/notesMasters/notesMaster1.xml" Id="R734c2d29600342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debd95e94d46e8" /><Relationship Type="http://schemas.openxmlformats.org/officeDocument/2006/relationships/notesMaster" Target="/ppt/notesMasters/notesMaster1.xml" Id="R584d35761bf447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c75761bb894668" /><Relationship Type="http://schemas.openxmlformats.org/officeDocument/2006/relationships/notesMaster" Target="/ppt/notesMasters/notesMaster1.xml" Id="R26d300daf8b743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6858b3767849a1" /><Relationship Type="http://schemas.openxmlformats.org/officeDocument/2006/relationships/notesMaster" Target="/ppt/notesMasters/notesMaster1.xml" Id="Rebd84571ae4b47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752fcb4a8a4955" /><Relationship Type="http://schemas.openxmlformats.org/officeDocument/2006/relationships/notesMaster" Target="/ppt/notesMasters/notesMaster1.xml" Id="R93883624391748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8e8993b95f4321" /><Relationship Type="http://schemas.openxmlformats.org/officeDocument/2006/relationships/notesMaster" Target="/ppt/notesMasters/notesMaster1.xml" Id="R037ac5bda7e541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585a56876149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419a4d0e454359" /><Relationship Type="http://schemas.openxmlformats.org/officeDocument/2006/relationships/slideLayout" Target="/ppt/slideLayouts/slideLayout1.xml" Id="R9fc0ff70c3f944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c0ff70c3f944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ca188ad3340be" /><Relationship Type="http://schemas.openxmlformats.org/officeDocument/2006/relationships/notesSlide" Target="/ppt/notesSlides/notesSlide1.xml" Id="R1df9f77b41c048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0359916bf4444" /><Relationship Type="http://schemas.openxmlformats.org/officeDocument/2006/relationships/chart" Target="/ppt/slides/charts/chart1.xml" Id="Rf37c9bd4c85a4666" /><Relationship Type="http://schemas.openxmlformats.org/officeDocument/2006/relationships/notesSlide" Target="/ppt/notesSlides/notesSlide2.xml" Id="Rbdbe1afb302f44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a2bb848bc14bb8" /><Relationship Type="http://schemas.openxmlformats.org/officeDocument/2006/relationships/chart" Target="/ppt/slides/charts/chart2.xml" Id="Rc90871cfe22c4633" /><Relationship Type="http://schemas.openxmlformats.org/officeDocument/2006/relationships/notesSlide" Target="/ppt/notesSlides/notesSlide3.xml" Id="R3ca767f6a2a541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aad6b36374c1e" /><Relationship Type="http://schemas.openxmlformats.org/officeDocument/2006/relationships/chart" Target="/ppt/slides/charts/chart3.xml" Id="Rb7ed2d5a4adf4876" /><Relationship Type="http://schemas.openxmlformats.org/officeDocument/2006/relationships/notesSlide" Target="/ppt/notesSlides/notesSlide4.xml" Id="Rae19d635682946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8eaad2c3f4148" /><Relationship Type="http://schemas.openxmlformats.org/officeDocument/2006/relationships/notesSlide" Target="/ppt/notesSlides/notesSlide5.xml" Id="Rf370211d8fe145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05236ff594bbf" /><Relationship Type="http://schemas.openxmlformats.org/officeDocument/2006/relationships/notesSlide" Target="/ppt/notesSlides/notesSlide6.xml" Id="Rf811f58453244dce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Sell-out 매출(백만원)</c:v>
          </c:tx>
          <c:spPr>
            <a:solidFill xmlns:a="http://schemas.openxmlformats.org/drawingml/2006/main">
              <a:srgbClr val="000000"/>
            </a:solidFill>
          </c:spPr>
          <c:dLbls/>
          <c:cat>
            <c:strLit>
              <c:ptCount val="4"/>
              <c:pt idx="0">
                <c:v>4월</c:v>
              </c:pt>
              <c:pt idx="1">
                <c:v>5월</c:v>
              </c:pt>
              <c:pt idx="2">
                <c:v>6월</c:v>
              </c:pt>
              <c:pt idx="3">
                <c:v>7월(~5일)</c:v>
              </c:pt>
            </c:strLit>
          </c:cat>
          <c:val>
            <c:numLit>
              <c:formatCode>#,##0</c:formatCode>
              <c:ptCount val="4"/>
              <c:pt idx="0">
                <c:v>76.3</c:v>
              </c:pt>
              <c:pt idx="1">
                <c:v>80.3</c:v>
              </c:pt>
              <c:pt idx="2">
                <c:v>98.9</c:v>
              </c:pt>
              <c:pt idx="3">
                <c:v>18.1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000000"/>
                  </a:solidFill>
                </a:defRPr>
              </a:pPr>
            </a:p>
          </c:txPr>
          <c:dLblPos val="outEnd"/>
          <c:showVal val="1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1E1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강아지</c:v>
          </c:tx>
          <c:spPr>
            <a:solidFill xmlns:a="http://schemas.openxmlformats.org/drawingml/2006/main">
              <a:srgbClr val="555555"/>
            </a:solidFill>
          </c:spPr>
          <c:dLbls/>
          <c:cat>
            <c:strLit>
              <c:ptCount val="4"/>
              <c:pt idx="0">
                <c:v>4월</c:v>
              </c:pt>
              <c:pt idx="1">
                <c:v>5월</c:v>
              </c:pt>
              <c:pt idx="2">
                <c:v>6월</c:v>
              </c:pt>
              <c:pt idx="3">
                <c:v>7월(~5일)</c:v>
              </c:pt>
            </c:strLit>
          </c:cat>
          <c:val>
            <c:numLit>
              <c:formatCode>#,##0</c:formatCode>
              <c:ptCount val="4"/>
              <c:pt idx="0">
                <c:v>24.2</c:v>
              </c:pt>
              <c:pt idx="1">
                <c:v>22.4</c:v>
              </c:pt>
              <c:pt idx="2">
                <c:v>27.2</c:v>
              </c:pt>
              <c:pt idx="3">
                <c:v>4.2</c:v>
              </c:pt>
            </c:numLit>
          </c:val>
        </c:ser>
        <c:ser>
          <c:idx val="1"/>
          <c:order val="1"/>
          <c:tx>
            <c:v>고양이</c:v>
          </c:tx>
          <c:spPr>
            <a:solidFill xmlns:a="http://schemas.openxmlformats.org/drawingml/2006/main">
              <a:srgbClr val="FF6B35"/>
            </a:solidFill>
          </c:spPr>
          <c:dLbls/>
          <c:cat>
            <c:strLit>
              <c:ptCount val="4"/>
              <c:pt idx="0">
                <c:v>4월</c:v>
              </c:pt>
              <c:pt idx="1">
                <c:v>5월</c:v>
              </c:pt>
              <c:pt idx="2">
                <c:v>6월</c:v>
              </c:pt>
              <c:pt idx="3">
                <c:v>7월(~5일)</c:v>
              </c:pt>
            </c:strLit>
          </c:cat>
          <c:val>
            <c:numLit>
              <c:formatCode>#,##0</c:formatCode>
              <c:ptCount val="4"/>
              <c:pt idx="0">
                <c:v>52.1</c:v>
              </c:pt>
              <c:pt idx="1">
                <c:v>57.9</c:v>
              </c:pt>
              <c:pt idx="2">
                <c:v>71.7</c:v>
              </c:pt>
              <c:pt idx="3">
                <c:v>13.9</c:v>
              </c:pt>
            </c:numLit>
          </c:val>
        </c:ser>
        <c:dLbls/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1E1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555555"/>
              </a:solidFill>
            </a:defRPr>
          </a:pPr>
        </a:p>
      </c:txPr>
    </c:legend>
    <c:plotVisOnly val="1"/>
  </c:chart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6월 매출(백만원)</c:v>
          </c:tx>
          <c:spPr>
            <a:solidFill xmlns:a="http://schemas.openxmlformats.org/drawingml/2006/main">
              <a:srgbClr val="000000"/>
            </a:solidFill>
          </c:spPr>
          <c:dLbls/>
          <c:cat>
            <c:strLit>
              <c:ptCount val="10"/>
              <c:pt idx="0">
                <c:v>F00C0106</c:v>
              </c:pt>
              <c:pt idx="1">
                <c:v>F00C0105</c:v>
              </c:pt>
              <c:pt idx="2">
                <c:v>F00C0108</c:v>
              </c:pt>
              <c:pt idx="3">
                <c:v>F00C0109</c:v>
              </c:pt>
              <c:pt idx="4">
                <c:v>F00D0108</c:v>
              </c:pt>
              <c:pt idx="5">
                <c:v>F00D0109</c:v>
              </c:pt>
              <c:pt idx="6">
                <c:v>F00D0103</c:v>
              </c:pt>
              <c:pt idx="7">
                <c:v>F00D0105</c:v>
              </c:pt>
              <c:pt idx="8">
                <c:v>F00C0102</c:v>
              </c:pt>
              <c:pt idx="9">
                <c:v>I01031</c:v>
              </c:pt>
            </c:strLit>
          </c:cat>
          <c:val>
            <c:numLit>
              <c:formatCode>General</c:formatCode>
              <c:ptCount val="10"/>
              <c:pt idx="0">
                <c:v>15.5</c:v>
              </c:pt>
              <c:pt idx="1">
                <c:v>14.4</c:v>
              </c:pt>
              <c:pt idx="2">
                <c:v>12.1</c:v>
              </c:pt>
              <c:pt idx="3">
                <c:v>10.3</c:v>
              </c:pt>
              <c:pt idx="4">
                <c:v>6.9</c:v>
              </c:pt>
              <c:pt idx="5">
                <c:v>3.9</c:v>
              </c:pt>
              <c:pt idx="6">
                <c:v>3.8</c:v>
              </c:pt>
              <c:pt idx="7">
                <c:v>3.5</c:v>
              </c:pt>
              <c:pt idx="8">
                <c:v>3.4</c:v>
              </c:pt>
              <c:pt idx="9">
                <c:v>2.3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000000"/>
                  </a:solidFill>
                </a:defRPr>
              </a:pPr>
            </a:p>
          </c:txPr>
          <c:dLblPos val="outEnd"/>
          <c:showVal val="1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8CFB03-4A50-4888-98A3-CCC76FBB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800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쿠팡 6월 월간 리뷰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BC94B8-63E2-4D5C-9C75-7A39C627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76400"/>
            <a:ext cx="723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정리된 POS 원장 기준으로 본 매출 성장, 카테고리 구조, 베스트 SKU, 성장 원인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1E2E2-8F55-4413-83F5-E7389529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14700"/>
            <a:ext cx="2476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1C187B-166A-40A1-A212-40F88741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6월 Sell-out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6EB6D-DE5A-4541-80E3-91CF114C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6715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32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9,888만원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7BBC83-AE3D-466B-A18C-66B2CF3D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5월 대비 +23.1%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7BF961-5626-42CA-8C8A-9ACE512C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14700"/>
            <a:ext cx="2476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340CE3-C884-4360-ADA9-955984B8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5242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고양이 매출비중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55B09-CFDD-412F-B4FA-35C56A28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6715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72.5%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BF9936-62C7-4372-AB53-36FEF365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476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증가분 기여 74.4%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10345-9994-47C1-9C8F-B3EBE8DD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14700"/>
            <a:ext cx="2476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D64EC4-CB97-483B-951D-5FAFF103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242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6월 광고전환매출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E3492-32A0-4BB3-9631-C480B760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6715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32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5,889만원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24CD4-BA5A-4335-9A7A-532BA1FC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76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ROAS 499.7%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262BE7-B3F1-4DCA-B22D-62425556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14700"/>
            <a:ext cx="2476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B0189D-6592-408D-9DD5-C92FF31C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242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7월 확정발주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AC217B-E14D-449D-8C4C-1B968005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86715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32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6,400만원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D6EF6A-F4D4-4640-8785-3A482DE1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476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포함가 기준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FC340F-5959-44A8-8DD9-639F4DB9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816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핵심 결론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4BF994-B5B7-4B43-8EDB-5C959469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53050"/>
            <a:ext cx="942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6월 성장은 고양이 주력 SKU, 쿠폰 적용 범위 확대, 광고 효율 유지가 함께 만든 결과입니다. 높은 매출 직후 7월 확정 발주가 이미 들어온 점도 긍정적입니다.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A42804-E387-4EB2-BED5-9CDCB6E6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Coupang Monthly Review ·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AF5383-0452-4B68-AEA7-E32B6ED8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865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247370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5F070D-74E8-45D8-8F82-71F8ECF1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286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6월 매출은 5월 대비 23.1% 성장했습니다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0123FA-2AC8-44EB-84C7-DDCDC602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정리된 POS 상세 기준 Sell-out 매출은 4월 7,629만원, 5월 8,031만원, 6월 9,888만원입니다.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B281A-EB75-425B-87C2-BEBD9B21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Coupang Monthly Review ·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DE24FC-C775-4B09-9828-7838D695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865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F5808-6598-4F89-95F1-9B332D9E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286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1D0EF0-A507-44E3-BAB8-EABB872F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4월 → 5월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A70B3-F7C3-4874-8720-40FDFF0B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7950"/>
            <a:ext cx="182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+5.3%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8BC815-CDBB-4BE8-BBFF-44F1F300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57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완만한 성장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B86871-1C17-4FFB-AEAF-305C488E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2286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5A65A9-2642-4913-9499-E81D2C64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8620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5월 → 6월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E50E81-E293-4DB9-B88C-C8C343C7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182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+23.1%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13589E-8087-4F62-BD93-739019C3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3870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성장 폭 확대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237835-48D4-481B-A05C-0C62F659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57800"/>
            <a:ext cx="228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F9B3DA-CB16-42AD-8E11-C7E8E003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673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4월 → 6월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A82676-96AE-4B9F-BD2F-64601271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0"/>
            <a:ext cx="182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+29.6%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7819B9-F12D-47C4-A3DB-3DFB567A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198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두 달 누적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3190875" y="2047875"/>
          <a:ext xmlns:a="http://schemas.openxmlformats.org/drawingml/2006/main" cx="8096250" cy="3571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7c9bd4c85a4666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88FEE4-09DA-49DC-835F-5F537A2D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7721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7월은 7/5까지 1,811만원으로 월중 데이터입니다. 현재 일평균은 362만원 수준이며, 확정 발주 6,400만원이 이미 들어와 6월 이후 수요 연속성이 확인됩니다.</a:t>
            </a:r>
          </a:p>
        </p:txBody>
      </p:sp>
    </p:spTree>
    <p:extLst>
      <p:ext uri="{BB962C8B-B14F-4D97-AF65-F5344CB8AC3E}">
        <p14:creationId xmlns:p14="http://schemas.microsoft.com/office/powerpoint/2010/main" val="20900824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882981-F9DC-434E-A378-399EEF34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286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고양이가 6월 증가분의 74%를 만들었습니다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69DAAA-575C-461D-8815-AFA9D1B0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강아지도 반등했지만, 매출 구조는 고양이 중심으로 더 강해졌습니다.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989D9-0E54-40B1-95A9-FAC16E27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Coupang Monthly Review ·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78C16-9998-4576-AED4-B3D73AEF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865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552450" y="1952625"/>
          <a:ext xmlns:a="http://schemas.openxmlformats.org/drawingml/2006/main" cx="666750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90871cfe22c4633"/>
          </a:graphicData>
        </a:graphic>
      </p:graphicFrame>
      <p:graphicFrame>
        <p:nvGraphicFramePr>
          <p:cNvPr id="18" name=""/>
          <p:cNvGraphicFramePr/>
          <p:nvPr/>
        </p:nvGraphicFramePr>
        <p:xfrm>
          <a:off xmlns:a="http://schemas.openxmlformats.org/drawingml/2006/main" x="7667625" y="2076450"/>
          <a:ext xmlns:a="http://schemas.openxmlformats.org/drawingml/2006/main" cx="3714750" cy="2381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928688"/>
                <a:gridCol w="928688"/>
                <a:gridCol w="928688"/>
                <a:gridCol w="928688"/>
              </a:tblGrid>
              <a:tr h="476250">
                <a:tc>
                  <a:txBody>
                    <a:bodyPr/>
                    <a:lstStyle/>
                    <a:p>
                      <a:r>
                        <a:t>월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강아지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고양이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고양이 비중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4월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2,421만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5,208만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68.3%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5월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2,244만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5,786만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72.1%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6월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2,720만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7,168만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72.5%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7월~5일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418만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1,393만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76.9%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77753-A491-42D2-A18D-FB91342A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819650"/>
            <a:ext cx="3714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0AA276-F21C-4C2A-9314-B7D8982F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50292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6월 증가 기여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DD11B-8AFB-4DD0-9DF5-D647E195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5372100"/>
            <a:ext cx="3257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고양이 74.4%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67DECE-DC11-44B0-88FE-3B2FE180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59817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5월 대비 +1,382만원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A2F69-3238-45D9-A6AA-6DE372B8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0"/>
            <a:ext cx="70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의미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8474CE-C872-42E1-863F-F92B23CE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505450"/>
            <a:ext cx="5953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655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매출 증가는 전체 SKU가 균등하게 오른 결과라기보다, 고양이 주력 라인과 캔/세븐/에이지 확장이 만든 구조적 성장에 가깝습니다.</a:t>
            </a:r>
          </a:p>
        </p:txBody>
      </p:sp>
    </p:spTree>
    <p:extLst>
      <p:ext uri="{BB962C8B-B14F-4D97-AF65-F5344CB8AC3E}">
        <p14:creationId xmlns:p14="http://schemas.microsoft.com/office/powerpoint/2010/main" val="10805029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D05069-AE0C-4F0E-9551-8F72B1DE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286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6월 베스트 SKU는 고양이 면역 라인이 상위권을 장악했습니다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3D4941-E99D-406E-9E85-8BC32427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상위 10개 SKU가 6월 Sell-out의 약 77%를 차지했습니다.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3079F-401B-480D-A9A6-904F3C9C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Coupang Monthly Review ·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99C0D0-BF15-441D-A83B-AF06866D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865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95300" y="1962150"/>
          <a:ext xmlns:a="http://schemas.openxmlformats.org/drawingml/2006/main" cx="6572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ed2d5a4adf4876"/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7477125" y="2000250"/>
          <a:ext xmlns:a="http://schemas.openxmlformats.org/drawingml/2006/main" cx="400050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800100"/>
                <a:gridCol w="800100"/>
                <a:gridCol w="800100"/>
                <a:gridCol w="800100"/>
                <a:gridCol w="800100"/>
              </a:tblGrid>
              <a:tr h="523875">
                <a:tc>
                  <a:txBody>
                    <a:bodyPr/>
                    <a:lstStyle/>
                    <a:p>
                      <a:r>
                        <a:t>순위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SKU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종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6월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MoM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F00C0106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고양이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15.5M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+3.6%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F00C0105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고양이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14.4M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+22.1%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F00C0108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고양이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12.1M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+13.9%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F00C0109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고양이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10.3M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-6.6%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F00D0108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강아지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6.9M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+20.1%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BEC2C-DBD4-4BAD-AEBF-71BB5B87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391150"/>
            <a:ext cx="400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8285D5-DFFA-4438-8A17-716C75E2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56007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Top 4 공통점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5DB401-BA64-4FB5-8A79-8CA5069C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5943600"/>
            <a:ext cx="354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전부 고양이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880304-1140-41A5-B785-FE9C6CB1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65532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바이오(면역)-캣 라인</a:t>
            </a:r>
          </a:p>
        </p:txBody>
      </p:sp>
    </p:spTree>
    <p:extLst>
      <p:ext uri="{BB962C8B-B14F-4D97-AF65-F5344CB8AC3E}">
        <p14:creationId xmlns:p14="http://schemas.microsoft.com/office/powerpoint/2010/main" val="5057761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8C0DFA-7620-48DD-AC6D-C4E35661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286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성장은 카테고리 확장과 판촉·광고가 함께 만든 결과입니다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1C0A0-6376-4246-B001-EE678BCC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6월에는 주력 고양이 SKU가 규모를 만들고, 쿠폰과 광고가 판매 전환을 받쳐줬습니다.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90E2EE-DF28-4B1D-8636-397B8763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Coupang Monthly Review ·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D1EB1-35AB-4F3A-B89A-655100FB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865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B1B3AD-4AFE-4760-B072-DB768A74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3337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50180-8B3D-4140-AB8D-7E110B02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621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프로모션 매출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BD6D71-A455-4B63-A413-61ABF86C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05075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7,749만원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C52888-B560-4C8E-96A9-6771BBF3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146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5월 대비 +61.7%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DC4077-F8CA-4695-ACD9-034B5558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81425"/>
            <a:ext cx="33337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5C3E52-B6D6-4E24-9332-9F818F08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90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즉시할인비용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8F66A9-947F-4EDD-B3DB-056AA48B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3875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538만원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B3AE69-33B1-4D8F-8772-0258BBA7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434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총 Sell-out의 5.4%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F48E12-19D3-42EB-B83F-CE42E33B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952625"/>
            <a:ext cx="33337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B21054-3733-4FA6-B24A-12C6999E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621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광고전환매출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2803EB-278C-44CC-8C64-6F4DC803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05075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5,889만원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408765-285C-4CC5-9D0E-7A85BF25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146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ROAS 499.7%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8E742A-B21B-41F4-887B-6F7A7BBE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81425"/>
            <a:ext cx="33337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36760C-552F-4FD0-9CE1-00C4AFEB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90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광고 매출기여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A5DBF0-E612-49BA-B681-F1DB5212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33875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59.6%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181A22-FE8E-4CED-B66A-E487D6FD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9434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6월 Sell-out 대비</a:t>
            </a:r>
          </a:p>
        </p:txBody>
      </p:sp>
      <p:graphicFrame>
        <p:nvGraphicFramePr>
          <p:cNvPr id="44" name=""/>
          <p:cNvGraphicFramePr/>
          <p:nvPr/>
        </p:nvGraphicFramePr>
        <p:xfrm>
          <a:off xmlns:a="http://schemas.openxmlformats.org/drawingml/2006/main" x="8001000" y="2038350"/>
          <a:ext xmlns:a="http://schemas.openxmlformats.org/drawingml/2006/main" cx="3619500" cy="29337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206500"/>
                <a:gridCol w="1206500"/>
                <a:gridCol w="1206500"/>
              </a:tblGrid>
              <a:tr h="488950">
                <a:tc>
                  <a:txBody>
                    <a:bodyPr/>
                    <a:lstStyle/>
                    <a:p>
                      <a:r>
                        <a:t>성장 기여 품종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증가액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MoM</a:t>
                      </a:r>
                    </a:p>
                  </a:txBody>
                  <a:tcPr marL="91440" marR="91440" marT="45720" marB="45720"/>
                </a:tc>
              </a:tr>
              <a:tr h="488950">
                <a:tc>
                  <a:txBody>
                    <a:bodyPr/>
                    <a:lstStyle/>
                    <a:p>
                      <a:r>
                        <a:t>애묘간식캔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5.2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+124.6%</a:t>
                      </a:r>
                    </a:p>
                  </a:txBody>
                  <a:tcPr marL="91440" marR="91440" marT="45720" marB="45720"/>
                </a:tc>
              </a:tr>
              <a:tr h="488950">
                <a:tc>
                  <a:txBody>
                    <a:bodyPr/>
                    <a:lstStyle/>
                    <a:p>
                      <a:r>
                        <a:t>바이오(면역)-캣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4.8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+9.4%</a:t>
                      </a:r>
                    </a:p>
                  </a:txBody>
                  <a:tcPr marL="91440" marR="91440" marT="45720" marB="45720"/>
                </a:tc>
              </a:tr>
              <a:tr h="488950">
                <a:tc>
                  <a:txBody>
                    <a:bodyPr/>
                    <a:lstStyle/>
                    <a:p>
                      <a:r>
                        <a:t>세븐-독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+112.8%</a:t>
                      </a:r>
                    </a:p>
                  </a:txBody>
                  <a:tcPr marL="91440" marR="91440" marT="45720" marB="45720"/>
                </a:tc>
              </a:tr>
              <a:tr h="488950">
                <a:tc>
                  <a:txBody>
                    <a:bodyPr/>
                    <a:lstStyle/>
                    <a:p>
                      <a:r>
                        <a:t>세븐-캣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+144.6%</a:t>
                      </a:r>
                    </a:p>
                  </a:txBody>
                  <a:tcPr marL="91440" marR="91440" marT="45720" marB="45720"/>
                </a:tc>
              </a:tr>
              <a:tr h="488950">
                <a:tc>
                  <a:txBody>
                    <a:bodyPr/>
                    <a:lstStyle/>
                    <a:p>
                      <a:r>
                        <a:t>바이오(면역)-독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1.6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+8.1%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EC6F24-47A1-4104-BA9B-288AF550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19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해석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D4BF90-D1D8-4EAF-9AC1-93111865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816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358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애묘간식캔, 바이오 캣, 세븐 라인이 동시에 올라오며 카테고리 포트폴리오가 넓어졌습니다. 다만 PPM은 5월 36.66%에서 6월 35.32%로 낮아져 판촉 비용 관리는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15732887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B13DD2-5296-4506-91EA-825F5BA6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286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7월은 발주가 이미 들어와 6월 성장의 후속 신호가 좋습니다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6390C-34DF-428F-97FD-9234A1B0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높은 매출 다음 달에 포함가 기준 6,400만원 확정 발주가 유입된 점은 긍정적입니다.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9804AB-ABC6-4B48-AC4A-27F77BDB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Coupang Monthly Review · 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33F903-8393-42B4-93AF-4B228020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865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C4560C-1517-4CB9-B2BB-16FA4098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951264-6A62-47B7-9DDB-07CF37FD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2257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7월 Sell-out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DFF41-FCB5-4E45-B8F5-4C1C3517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22574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1,811만원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B67568-FD0A-43D8-8931-1BD5AEBB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257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7/5까지 POS 기준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C4E68A-F240-46D5-9043-E13BB3AF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76450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2734B9-9A17-42C5-A4FD-FC0C9C19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86000"/>
            <a:ext cx="2257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일평균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65B082-138C-46B8-BDC7-D598856E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28900"/>
            <a:ext cx="22574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362만원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8BDF81-3968-4CE9-BFF7-96A7526F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38500"/>
            <a:ext cx="2257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월환산 1.12억원 수준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76D2CE-D364-4EB7-8B8D-0C4C1916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089C4-F789-4046-A511-41CF6C81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86000"/>
            <a:ext cx="2257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확정 발주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9E6E2F-9739-4B3E-ABF5-110B3D3E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28900"/>
            <a:ext cx="22574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6,400만원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A9B58-B74C-46CF-A2A9-C56DF17B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38500"/>
            <a:ext cx="2257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포함가 기준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BA329-29C4-43B6-86E2-082B7F2F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76450"/>
            <a:ext cx="2095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B17180-3502-4D50-A1E8-02CCE979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2860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6월 확정매출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0E5093-41C5-41FC-ACE1-80F476FC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28900"/>
            <a:ext cx="1638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24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8,241만원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A0836B-955B-4DB7-937B-012C383D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2385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입고/매입 기준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FCA89E-39E3-432D-93F9-C876C2A4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다음 액션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46E90A-0E0E-4A52-A017-8E352BBD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00500"/>
            <a:ext cx="819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15000"/>
              </a:lnSpc>
              <a:buNone/>
              <a:def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고양이 바이오·애묘캔·세븐 캣의 재고를 우선 점검해 품절 리스크를 줄입니다.</a:t>
            </a:r>
          </a:p>
          <a:p xmlns:a="http://schemas.openxmlformats.org/drawingml/2006/main">
            <a:pPr marL="22" indent="-12" algn="l">
              <a:lnSpc>
                <a:spcPct val="115000"/>
              </a:lnSpc>
              <a:buNone/>
              <a:def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쿠폰은 성장에 기여했지만 비용도 커졌으므로 SKU별 할인 효율을 나눠 봅니다.</a:t>
            </a:r>
          </a:p>
          <a:p xmlns:a="http://schemas.openxmlformats.org/drawingml/2006/main">
            <a:pPr marL="22" indent="-12" algn="l">
              <a:lnSpc>
                <a:spcPct val="115000"/>
              </a:lnSpc>
              <a:buNone/>
              <a:def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광고는 효율이 유지되는 애묘사료·애견사료 중심으로 예산을 유지하고, 유산균/데일리스틱은 효율 개선이 필요합니다.</a:t>
            </a:r>
          </a:p>
          <a:p xmlns:a="http://schemas.openxmlformats.org/drawingml/2006/main">
            <a:pPr marL="22" indent="-12" algn="l">
              <a:lnSpc>
                <a:spcPct val="115000"/>
              </a:lnSpc>
              <a:buNone/>
              <a:def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000000"/>
                </a:solidFill>
                <a:latin typeface="Malgun Gothic"/>
                <a:ea typeface="Malgun Gothic"/>
                <a:cs typeface="Malgun Gothic"/>
              </a:rPr>
              <a:t>월별 주요지표 탭 일부 값은 중복 삭제 전 숫자가 남아 있어 POS 원장 기준으로 갱신하면 발표 숫자와 대시보드가 맞습니다.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D64F7B-E0F9-43B4-9D0F-E30EE546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Coupang Monthly Review · 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DD68B-9FE9-45CF-904B-6D8CDB30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2865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756162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2026-07-06T03:55:37.9310000Z</dcterms:created>
  <dcterms:modified xsi:type="dcterms:W3CDTF">2026-07-06T03:55:37.9310000Z</dcterms:modified>
</coreProperties>
</file>