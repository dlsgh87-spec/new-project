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Sell-out 매출(백만원)</c:v>
          </c:tx>
          <c:spPr>
            <a:solidFill>
              <a:srgbClr val="000000"/>
            </a:solidFill>
          </c:spPr>
          <c:invertIfNegative val="1"/>
          <c:dLbls>
            <c:dLbl>
              <c:idx val="2"/>
              <c:tx>
                <c:rich>
                  <a:bodyPr/>
                  <a:lstStyle/>
                  <a:p>
                    <a:fld id="{EB72601F-8351-41E2-87B2-604B160FF105}" type="SERIESNAME">
                      <a:rPr lang="en-US" altLang="ko-KR"/>
                      <a:pPr/>
                      <a:t>[계열 이름]</a:t>
                    </a:fld>
                    <a:r>
                      <a:rPr lang="en-US" altLang="ko-KR" baseline="0" dirty="0"/>
                      <a:t>, </a:t>
                    </a:r>
                    <a:fld id="{D5C71CCC-3520-46A7-926C-4B3D39FE087F}" type="CATEGORYNAME">
                      <a:rPr lang="ko-KR" altLang="en-US" baseline="0"/>
                      <a:pPr/>
                      <a:t>[범주 이름]</a:t>
                    </a:fld>
                    <a:r>
                      <a:rPr lang="en-US" altLang="ko-KR" baseline="0" dirty="0"/>
                      <a:t>, </a:t>
                    </a:r>
                  </a:p>
                  <a:p>
                    <a:r>
                      <a:rPr lang="en-US" altLang="ko-KR" baseline="0" dirty="0"/>
                      <a:t>99</a:t>
                    </a:r>
                  </a:p>
                </c:rich>
              </c:tx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B5CA-4AC1-8FAF-895ED2B084F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4월</c:v>
              </c:pt>
              <c:pt idx="1">
                <c:v>5월</c:v>
              </c:pt>
              <c:pt idx="2">
                <c:v>6월</c:v>
              </c:pt>
              <c:pt idx="3">
                <c:v>7월(~5일)</c:v>
              </c:pt>
            </c:strLit>
          </c:cat>
          <c:val>
            <c:numLit>
              <c:formatCode>#,##0</c:formatCode>
              <c:ptCount val="4"/>
              <c:pt idx="0">
                <c:v>76.3</c:v>
              </c:pt>
              <c:pt idx="1">
                <c:v>80.3</c:v>
              </c:pt>
              <c:pt idx="2">
                <c:v>98.9</c:v>
              </c:pt>
              <c:pt idx="3">
                <c:v>18.100000000000001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5CA-4AC1-8FAF-895ED2B084FC}"/>
            </c:ext>
          </c:extLst>
        </c:ser>
        <c:dLbls>
          <c:dLblPos val="outEnd"/>
          <c:showLegendKey val="1"/>
          <c:showVal val="1"/>
          <c:showCatName val="1"/>
          <c:showSerName val="1"/>
          <c:showPercent val="1"/>
          <c:showBubbleSize val="1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55555"/>
                </a:solidFill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1E1E1"/>
              </a:solidFill>
              <a:prstDash val="solid"/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55555"/>
                </a:solidFill>
              </a:defRPr>
            </a:pPr>
            <a:endParaRPr lang="ko-KR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93644-0EA7-F8D9-B794-12A24394F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F24939-DC5A-C235-8585-399CD5186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7A3578-87F3-FC17-F345-0A0C04B34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D7679-27F7-39D9-04AB-72A25239427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8635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938CFB03-4A50-4888-98A3-CCC76FBB8C72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8001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쿠팡 6월 월간 리뷰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EBC94B8-63E2-4D5C-9C75-7A39C6275AAD}"/>
              </a:ext>
            </a:extLst>
          </p:cNvPr>
          <p:cNvSpPr>
            <a:spLocks noGrp="1"/>
          </p:cNvSpPr>
          <p:nvPr/>
        </p:nvSpPr>
        <p:spPr>
          <a:xfrm>
            <a:off x="419100" y="1676400"/>
            <a:ext cx="109156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정리된</a:t>
            </a:r>
            <a:r>
              <a:rPr sz="19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POS </a:t>
            </a:r>
            <a:r>
              <a:rPr sz="19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원장</a:t>
            </a:r>
            <a:r>
              <a:rPr sz="19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9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기준으로</a:t>
            </a:r>
            <a:r>
              <a:rPr sz="19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본 </a:t>
            </a:r>
            <a:r>
              <a:rPr sz="19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매출</a:t>
            </a:r>
            <a:r>
              <a:rPr sz="19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9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성장</a:t>
            </a:r>
            <a:r>
              <a:rPr sz="19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9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카테고리</a:t>
            </a:r>
            <a:r>
              <a:rPr sz="19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9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구조</a:t>
            </a:r>
            <a:r>
              <a:rPr sz="19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9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베스트</a:t>
            </a:r>
            <a:r>
              <a:rPr sz="19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SKU, </a:t>
            </a:r>
            <a:r>
              <a:rPr sz="19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성장</a:t>
            </a:r>
            <a:r>
              <a:rPr sz="19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9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원인</a:t>
            </a:r>
            <a:endParaRPr sz="1950" b="0" dirty="0">
              <a:solidFill>
                <a:srgbClr val="55555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9D1E2E2-8F55-4413-83F5-E73895297AE3}"/>
              </a:ext>
            </a:extLst>
          </p:cNvPr>
          <p:cNvSpPr>
            <a:spLocks noGrp="1"/>
          </p:cNvSpPr>
          <p:nvPr/>
        </p:nvSpPr>
        <p:spPr>
          <a:xfrm>
            <a:off x="400050" y="3314700"/>
            <a:ext cx="2476500" cy="16002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A1C187B-166A-40A1-A212-40F887414330}"/>
              </a:ext>
            </a:extLst>
          </p:cNvPr>
          <p:cNvSpPr>
            <a:spLocks noGrp="1"/>
          </p:cNvSpPr>
          <p:nvPr/>
        </p:nvSpPr>
        <p:spPr>
          <a:xfrm>
            <a:off x="628650" y="35242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6월 Sell-out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7D6EB6D-DE5A-4541-80E3-91CF114C78AA}"/>
              </a:ext>
            </a:extLst>
          </p:cNvPr>
          <p:cNvSpPr>
            <a:spLocks noGrp="1"/>
          </p:cNvSpPr>
          <p:nvPr/>
        </p:nvSpPr>
        <p:spPr>
          <a:xfrm>
            <a:off x="531091" y="3848100"/>
            <a:ext cx="2345459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432"/>
          </a:bodyPr>
          <a:lstStyle/>
          <a:p>
            <a:pPr algn="l">
              <a:def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36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9,888</a:t>
            </a:r>
            <a:r>
              <a:rPr sz="36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만원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D7BBC83-AE3D-466B-A18C-66B2CF3DDFB6}"/>
              </a:ext>
            </a:extLst>
          </p:cNvPr>
          <p:cNvSpPr>
            <a:spLocks noGrp="1"/>
          </p:cNvSpPr>
          <p:nvPr/>
        </p:nvSpPr>
        <p:spPr>
          <a:xfrm>
            <a:off x="628650" y="44767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5월 </a:t>
            </a:r>
            <a:r>
              <a:rPr sz="13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대비</a:t>
            </a:r>
            <a:r>
              <a:rPr sz="13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+2</a:t>
            </a:r>
            <a:r>
              <a:rPr lang="en-US" sz="13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8</a:t>
            </a:r>
            <a:r>
              <a:rPr sz="13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.1%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C7BF961-5626-42CA-8C8A-9ACE512C9563}"/>
              </a:ext>
            </a:extLst>
          </p:cNvPr>
          <p:cNvSpPr>
            <a:spLocks noGrp="1"/>
          </p:cNvSpPr>
          <p:nvPr/>
        </p:nvSpPr>
        <p:spPr>
          <a:xfrm>
            <a:off x="3295650" y="3314700"/>
            <a:ext cx="2476500" cy="16002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340CE3-C884-4360-ADA9-955984B84B16}"/>
              </a:ext>
            </a:extLst>
          </p:cNvPr>
          <p:cNvSpPr>
            <a:spLocks noGrp="1"/>
          </p:cNvSpPr>
          <p:nvPr/>
        </p:nvSpPr>
        <p:spPr>
          <a:xfrm>
            <a:off x="3524250" y="35242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고양이 매출비중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7B55B09-CFDD-412F-B4FA-35C56A28FCC6}"/>
              </a:ext>
            </a:extLst>
          </p:cNvPr>
          <p:cNvSpPr>
            <a:spLocks noGrp="1"/>
          </p:cNvSpPr>
          <p:nvPr/>
        </p:nvSpPr>
        <p:spPr>
          <a:xfrm>
            <a:off x="3524250" y="3867150"/>
            <a:ext cx="2019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72.5%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5BF9936-62C7-4372-AB53-36FEF365525F}"/>
              </a:ext>
            </a:extLst>
          </p:cNvPr>
          <p:cNvSpPr>
            <a:spLocks noGrp="1"/>
          </p:cNvSpPr>
          <p:nvPr/>
        </p:nvSpPr>
        <p:spPr>
          <a:xfrm>
            <a:off x="3524250" y="44767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증가분 기여 74.4%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4D10345-9994-47C1-9C8F-B3EBE8DD6893}"/>
              </a:ext>
            </a:extLst>
          </p:cNvPr>
          <p:cNvSpPr>
            <a:spLocks noGrp="1"/>
          </p:cNvSpPr>
          <p:nvPr/>
        </p:nvSpPr>
        <p:spPr>
          <a:xfrm>
            <a:off x="6191250" y="3314700"/>
            <a:ext cx="2476500" cy="16002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DD64EC4-CB97-483B-951D-5FAFF103A18C}"/>
              </a:ext>
            </a:extLst>
          </p:cNvPr>
          <p:cNvSpPr>
            <a:spLocks noGrp="1"/>
          </p:cNvSpPr>
          <p:nvPr/>
        </p:nvSpPr>
        <p:spPr>
          <a:xfrm>
            <a:off x="6419850" y="35242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6월 광고전환매출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3BE3492-32A0-4BB3-9631-C480B760C47F}"/>
              </a:ext>
            </a:extLst>
          </p:cNvPr>
          <p:cNvSpPr>
            <a:spLocks noGrp="1"/>
          </p:cNvSpPr>
          <p:nvPr/>
        </p:nvSpPr>
        <p:spPr>
          <a:xfrm>
            <a:off x="6419850" y="3867150"/>
            <a:ext cx="2247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432"/>
          </a:bodyPr>
          <a:lstStyle/>
          <a:p>
            <a:pPr algn="l">
              <a:def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5,889만원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9A24CD4-BA5A-4335-9A7A-532BA1FC16E6}"/>
              </a:ext>
            </a:extLst>
          </p:cNvPr>
          <p:cNvSpPr>
            <a:spLocks noGrp="1"/>
          </p:cNvSpPr>
          <p:nvPr/>
        </p:nvSpPr>
        <p:spPr>
          <a:xfrm>
            <a:off x="6419850" y="44767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ROAS 499.7%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6262BE7-B3F1-4DCA-B22D-62425556D245}"/>
              </a:ext>
            </a:extLst>
          </p:cNvPr>
          <p:cNvSpPr>
            <a:spLocks noGrp="1"/>
          </p:cNvSpPr>
          <p:nvPr/>
        </p:nvSpPr>
        <p:spPr>
          <a:xfrm>
            <a:off x="9086850" y="3314700"/>
            <a:ext cx="2476500" cy="16002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9B0189D-6592-408D-9DD5-C92FF31C22DF}"/>
              </a:ext>
            </a:extLst>
          </p:cNvPr>
          <p:cNvSpPr>
            <a:spLocks noGrp="1"/>
          </p:cNvSpPr>
          <p:nvPr/>
        </p:nvSpPr>
        <p:spPr>
          <a:xfrm>
            <a:off x="9315450" y="35242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7월 확정발주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9AC217B-E14D-449D-8C4C-1B968005A1D7}"/>
              </a:ext>
            </a:extLst>
          </p:cNvPr>
          <p:cNvSpPr>
            <a:spLocks noGrp="1"/>
          </p:cNvSpPr>
          <p:nvPr/>
        </p:nvSpPr>
        <p:spPr>
          <a:xfrm>
            <a:off x="9315450" y="3867150"/>
            <a:ext cx="257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432"/>
          </a:bodyPr>
          <a:lstStyle/>
          <a:p>
            <a:pPr algn="l">
              <a:def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6,400만원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4D6EF6A-F4D4-4640-8785-3A482DE183B2}"/>
              </a:ext>
            </a:extLst>
          </p:cNvPr>
          <p:cNvSpPr>
            <a:spLocks noGrp="1"/>
          </p:cNvSpPr>
          <p:nvPr/>
        </p:nvSpPr>
        <p:spPr>
          <a:xfrm>
            <a:off x="9315450" y="44767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포함가 기준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3FC340F-5959-44A8-8DD9-639F4DB939CB}"/>
              </a:ext>
            </a:extLst>
          </p:cNvPr>
          <p:cNvSpPr>
            <a:spLocks noGrp="1"/>
          </p:cNvSpPr>
          <p:nvPr/>
        </p:nvSpPr>
        <p:spPr>
          <a:xfrm>
            <a:off x="419100" y="5381625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핵심 결론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B4BF994-B5B7-4B43-8EDB-5C9594699678}"/>
              </a:ext>
            </a:extLst>
          </p:cNvPr>
          <p:cNvSpPr>
            <a:spLocks noGrp="1"/>
          </p:cNvSpPr>
          <p:nvPr/>
        </p:nvSpPr>
        <p:spPr>
          <a:xfrm>
            <a:off x="1943100" y="5353050"/>
            <a:ext cx="9429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6월 성장은 고양이 주력 SKU, 쿠폰 적용 범위 확대, 광고 효율 유지가 함께 만든 결과입니다. 높은 매출 직후 7월 확정 발주가 이미 들어온 점도 긍정적입니다.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DA42804-E387-4EB2-BED5-9CDCB6E682C0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Coupang Monthly Review · 1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EAF5383-0452-4B68-AEA7-E32B6ED81FF5}"/>
              </a:ext>
            </a:extLst>
          </p:cNvPr>
          <p:cNvSpPr>
            <a:spLocks noGrp="1"/>
          </p:cNvSpPr>
          <p:nvPr/>
        </p:nvSpPr>
        <p:spPr>
          <a:xfrm>
            <a:off x="11125200" y="628650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24737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505F070D-74E8-45D8-8F82-71F8ECF1675C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815368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6월 </a:t>
            </a:r>
            <a:r>
              <a:rPr sz="3600" b="1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매출은</a:t>
            </a:r>
            <a:r>
              <a:rPr sz="36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5월 </a:t>
            </a:r>
            <a:r>
              <a:rPr sz="3600" b="1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대비</a:t>
            </a:r>
            <a:r>
              <a:rPr sz="36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23.1%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40123FA-2AC8-44EB-84C7-DDCDC6028C4D}"/>
              </a:ext>
            </a:extLst>
          </p:cNvPr>
          <p:cNvSpPr>
            <a:spLocks noGrp="1"/>
          </p:cNvSpPr>
          <p:nvPr/>
        </p:nvSpPr>
        <p:spPr>
          <a:xfrm>
            <a:off x="520700" y="1276350"/>
            <a:ext cx="108870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정리된</a:t>
            </a:r>
            <a:r>
              <a:rPr sz="16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POS </a:t>
            </a:r>
            <a:r>
              <a:rPr sz="16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상세</a:t>
            </a:r>
            <a:r>
              <a:rPr sz="16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기준</a:t>
            </a:r>
            <a:r>
              <a:rPr sz="16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Sell-out </a:t>
            </a:r>
            <a:r>
              <a:rPr sz="16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매출은</a:t>
            </a:r>
            <a:r>
              <a:rPr sz="16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4월 7,629만원, 5월 8,031만원, 6월 9,888만원입니다.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A0B281A-EB75-425B-87C2-BEBD9B2159B1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Coupang Monthly Review · 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E24FC-C775-4B09-9828-7838D695C47B}"/>
              </a:ext>
            </a:extLst>
          </p:cNvPr>
          <p:cNvSpPr>
            <a:spLocks noGrp="1"/>
          </p:cNvSpPr>
          <p:nvPr/>
        </p:nvSpPr>
        <p:spPr>
          <a:xfrm>
            <a:off x="11125200" y="628650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EF5808-6598-4F89-95F1-9B332D9EAF2F}"/>
              </a:ext>
            </a:extLst>
          </p:cNvPr>
          <p:cNvSpPr>
            <a:spLocks noGrp="1"/>
          </p:cNvSpPr>
          <p:nvPr/>
        </p:nvSpPr>
        <p:spPr>
          <a:xfrm>
            <a:off x="400050" y="2095500"/>
            <a:ext cx="2286000" cy="13335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C1D0EF0-A507-44E3-BAB8-EABB872FD565}"/>
              </a:ext>
            </a:extLst>
          </p:cNvPr>
          <p:cNvSpPr>
            <a:spLocks noGrp="1"/>
          </p:cNvSpPr>
          <p:nvPr/>
        </p:nvSpPr>
        <p:spPr>
          <a:xfrm>
            <a:off x="628650" y="2162175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4월 → 5월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26A70B3-F7C3-4874-8720-40FDFF0B9BAD}"/>
              </a:ext>
            </a:extLst>
          </p:cNvPr>
          <p:cNvSpPr>
            <a:spLocks noGrp="1"/>
          </p:cNvSpPr>
          <p:nvPr/>
        </p:nvSpPr>
        <p:spPr>
          <a:xfrm>
            <a:off x="628650" y="2505075"/>
            <a:ext cx="1828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+5.3%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8BC815-CDBB-4BE8-BBFF-44F1F300E241}"/>
              </a:ext>
            </a:extLst>
          </p:cNvPr>
          <p:cNvSpPr>
            <a:spLocks noGrp="1"/>
          </p:cNvSpPr>
          <p:nvPr/>
        </p:nvSpPr>
        <p:spPr>
          <a:xfrm>
            <a:off x="628650" y="3114675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완만한 성장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9B86871-1C17-4FFB-AEAF-305C488EDE5F}"/>
              </a:ext>
            </a:extLst>
          </p:cNvPr>
          <p:cNvSpPr>
            <a:spLocks noGrp="1"/>
          </p:cNvSpPr>
          <p:nvPr/>
        </p:nvSpPr>
        <p:spPr>
          <a:xfrm>
            <a:off x="400050" y="3676650"/>
            <a:ext cx="2286000" cy="13335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15A65A9-2642-4913-9499-E81D2C640C49}"/>
              </a:ext>
            </a:extLst>
          </p:cNvPr>
          <p:cNvSpPr>
            <a:spLocks noGrp="1"/>
          </p:cNvSpPr>
          <p:nvPr/>
        </p:nvSpPr>
        <p:spPr>
          <a:xfrm>
            <a:off x="628650" y="3743325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5월 → 6월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DE50E81-E293-4DB9-B88C-C8C343C7C1E7}"/>
              </a:ext>
            </a:extLst>
          </p:cNvPr>
          <p:cNvSpPr>
            <a:spLocks noGrp="1"/>
          </p:cNvSpPr>
          <p:nvPr/>
        </p:nvSpPr>
        <p:spPr>
          <a:xfrm>
            <a:off x="628650" y="4086225"/>
            <a:ext cx="1828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+23.1%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13589E-8087-4F62-BD93-739019C3B0BC}"/>
              </a:ext>
            </a:extLst>
          </p:cNvPr>
          <p:cNvSpPr>
            <a:spLocks noGrp="1"/>
          </p:cNvSpPr>
          <p:nvPr/>
        </p:nvSpPr>
        <p:spPr>
          <a:xfrm>
            <a:off x="628650" y="4695825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성장 폭 확대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2237835-48D4-481B-A05C-0C62F6594C0A}"/>
              </a:ext>
            </a:extLst>
          </p:cNvPr>
          <p:cNvSpPr>
            <a:spLocks noGrp="1"/>
          </p:cNvSpPr>
          <p:nvPr/>
        </p:nvSpPr>
        <p:spPr>
          <a:xfrm>
            <a:off x="400050" y="5257800"/>
            <a:ext cx="2286000" cy="9525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5F9B3DA-CB16-42AD-8E11-C7E8E0036E42}"/>
              </a:ext>
            </a:extLst>
          </p:cNvPr>
          <p:cNvSpPr>
            <a:spLocks noGrp="1"/>
          </p:cNvSpPr>
          <p:nvPr/>
        </p:nvSpPr>
        <p:spPr>
          <a:xfrm>
            <a:off x="527050" y="525780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4월 → 6월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FA82676-96AE-4B9F-BD2F-646012716087}"/>
              </a:ext>
            </a:extLst>
          </p:cNvPr>
          <p:cNvSpPr>
            <a:spLocks noGrp="1"/>
          </p:cNvSpPr>
          <p:nvPr/>
        </p:nvSpPr>
        <p:spPr>
          <a:xfrm>
            <a:off x="527050" y="5495925"/>
            <a:ext cx="1828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+29.6%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97819B9-F12D-47C4-A3DB-3DFB567A7C87}"/>
              </a:ext>
            </a:extLst>
          </p:cNvPr>
          <p:cNvSpPr>
            <a:spLocks noGrp="1"/>
          </p:cNvSpPr>
          <p:nvPr/>
        </p:nvSpPr>
        <p:spPr>
          <a:xfrm>
            <a:off x="571500" y="6022686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두 달 </a:t>
            </a:r>
            <a:r>
              <a:rPr sz="13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누적</a:t>
            </a:r>
            <a:endParaRPr sz="1350" b="0" dirty="0">
              <a:solidFill>
                <a:srgbClr val="555555"/>
              </a:solidFill>
              <a:latin typeface="Malgun Gothic"/>
              <a:ea typeface="Malgun Gothic"/>
              <a:cs typeface="Malgun Gothic"/>
            </a:endParaRPr>
          </a:p>
        </p:txBody>
      </p:sp>
      <p:graphicFrame>
        <p:nvGraphicFramePr>
          <p:cNvPr id="35" name="Chart"/>
          <p:cNvGraphicFramePr/>
          <p:nvPr>
            <p:extLst>
              <p:ext uri="{D42A27DB-BD31-4B8C-83A1-F6EECF244321}">
                <p14:modId xmlns:p14="http://schemas.microsoft.com/office/powerpoint/2010/main" val="1762842569"/>
              </p:ext>
            </p:extLst>
          </p:nvPr>
        </p:nvGraphicFramePr>
        <p:xfrm>
          <a:off x="3190875" y="2047875"/>
          <a:ext cx="8096250" cy="3571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BA88FEE4-09DA-49DC-835F-5F537A2D2015}"/>
              </a:ext>
            </a:extLst>
          </p:cNvPr>
          <p:cNvSpPr>
            <a:spLocks noGrp="1"/>
          </p:cNvSpPr>
          <p:nvPr/>
        </p:nvSpPr>
        <p:spPr>
          <a:xfrm>
            <a:off x="3190875" y="5772150"/>
            <a:ext cx="8096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7월은 7/5까지 1,811만원으로 월중 데이터입니다. 현재 일평균은 362만원 수준이며, 확정 발주 6,400만원이 이미 들어와 6월 이후 수요 연속성이 확인됩니다.</a:t>
            </a:r>
          </a:p>
        </p:txBody>
      </p:sp>
    </p:spTree>
    <p:extLst>
      <p:ext uri="{BB962C8B-B14F-4D97-AF65-F5344CB8AC3E}">
        <p14:creationId xmlns:p14="http://schemas.microsoft.com/office/powerpoint/2010/main" val="2090082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C38C0DFA-7620-48DD-AC6D-C4E356613E9E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17919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성장은</a:t>
            </a:r>
            <a:r>
              <a:rPr sz="36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600" b="1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카테고리</a:t>
            </a:r>
            <a:r>
              <a:rPr sz="36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600" b="1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확장과</a:t>
            </a:r>
            <a:r>
              <a:rPr sz="36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600" b="1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판촉·광고</a:t>
            </a:r>
            <a:r>
              <a:rPr lang="en-US" sz="36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36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기여</a:t>
            </a:r>
            <a:endParaRPr sz="3600" b="1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D81C0A0-6376-4246-B001-EE678BCC1AC3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6월에는 주력 고양이 SKU가 규모를 만들고, 쿠폰과 광고가 판매 전환을 받쳐줬습니다.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490E2EE-DF28-4B1D-8636-397B8763F75B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Coupang Monthly Review · 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2AD1EB1-35AB-4F3A-B89A-655100FB9139}"/>
              </a:ext>
            </a:extLst>
          </p:cNvPr>
          <p:cNvSpPr>
            <a:spLocks noGrp="1"/>
          </p:cNvSpPr>
          <p:nvPr/>
        </p:nvSpPr>
        <p:spPr>
          <a:xfrm>
            <a:off x="11125200" y="628650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0B1B3AD-4AFE-4760-B072-DB768A74F87C}"/>
              </a:ext>
            </a:extLst>
          </p:cNvPr>
          <p:cNvSpPr>
            <a:spLocks noGrp="1"/>
          </p:cNvSpPr>
          <p:nvPr/>
        </p:nvSpPr>
        <p:spPr>
          <a:xfrm>
            <a:off x="400050" y="1952625"/>
            <a:ext cx="3333750" cy="15716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1150180-8B3D-4140-AB8D-7E110B02D616}"/>
              </a:ext>
            </a:extLst>
          </p:cNvPr>
          <p:cNvSpPr>
            <a:spLocks noGrp="1"/>
          </p:cNvSpPr>
          <p:nvPr/>
        </p:nvSpPr>
        <p:spPr>
          <a:xfrm>
            <a:off x="628650" y="2162175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프로모션 매출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8BD6D71-A455-4B63-A413-61ABF86CF550}"/>
              </a:ext>
            </a:extLst>
          </p:cNvPr>
          <p:cNvSpPr>
            <a:spLocks noGrp="1"/>
          </p:cNvSpPr>
          <p:nvPr/>
        </p:nvSpPr>
        <p:spPr>
          <a:xfrm>
            <a:off x="628650" y="2505075"/>
            <a:ext cx="2876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7,749만원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1C52888-B560-4C8E-96A9-6771BBF33AB7}"/>
              </a:ext>
            </a:extLst>
          </p:cNvPr>
          <p:cNvSpPr>
            <a:spLocks noGrp="1"/>
          </p:cNvSpPr>
          <p:nvPr/>
        </p:nvSpPr>
        <p:spPr>
          <a:xfrm>
            <a:off x="628650" y="3114675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5월 대비 +61.7%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EDC4077-F8CA-4695-ACD9-034B5558AB3F}"/>
              </a:ext>
            </a:extLst>
          </p:cNvPr>
          <p:cNvSpPr>
            <a:spLocks noGrp="1"/>
          </p:cNvSpPr>
          <p:nvPr/>
        </p:nvSpPr>
        <p:spPr>
          <a:xfrm>
            <a:off x="400050" y="3781425"/>
            <a:ext cx="3333750" cy="15716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E5C3E52-B6D6-4E24-9332-9F818F08A790}"/>
              </a:ext>
            </a:extLst>
          </p:cNvPr>
          <p:cNvSpPr>
            <a:spLocks noGrp="1"/>
          </p:cNvSpPr>
          <p:nvPr/>
        </p:nvSpPr>
        <p:spPr>
          <a:xfrm>
            <a:off x="628650" y="3990975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즉시할인비용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A8F66A9-947F-4EDD-B3DB-056AA48BB8F6}"/>
              </a:ext>
            </a:extLst>
          </p:cNvPr>
          <p:cNvSpPr>
            <a:spLocks noGrp="1"/>
          </p:cNvSpPr>
          <p:nvPr/>
        </p:nvSpPr>
        <p:spPr>
          <a:xfrm>
            <a:off x="628650" y="4333875"/>
            <a:ext cx="2876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538만원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2B3AE69-33B1-4D8F-8772-0258BBA7EEA8}"/>
              </a:ext>
            </a:extLst>
          </p:cNvPr>
          <p:cNvSpPr>
            <a:spLocks noGrp="1"/>
          </p:cNvSpPr>
          <p:nvPr/>
        </p:nvSpPr>
        <p:spPr>
          <a:xfrm>
            <a:off x="628650" y="4943475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총 Sell-out의 5.4%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CF48E12-19D3-42EB-B83F-CE42E33BC156}"/>
              </a:ext>
            </a:extLst>
          </p:cNvPr>
          <p:cNvSpPr>
            <a:spLocks noGrp="1"/>
          </p:cNvSpPr>
          <p:nvPr/>
        </p:nvSpPr>
        <p:spPr>
          <a:xfrm>
            <a:off x="3790950" y="1947863"/>
            <a:ext cx="3333750" cy="15716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EB21054-3733-4FA6-B24A-12C6999E4E83}"/>
              </a:ext>
            </a:extLst>
          </p:cNvPr>
          <p:cNvSpPr>
            <a:spLocks noGrp="1"/>
          </p:cNvSpPr>
          <p:nvPr/>
        </p:nvSpPr>
        <p:spPr>
          <a:xfrm>
            <a:off x="4457700" y="2162175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광고전환매출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C2803EB-278C-44CC-8C64-6F4DC8031EFA}"/>
              </a:ext>
            </a:extLst>
          </p:cNvPr>
          <p:cNvSpPr>
            <a:spLocks noGrp="1"/>
          </p:cNvSpPr>
          <p:nvPr/>
        </p:nvSpPr>
        <p:spPr>
          <a:xfrm>
            <a:off x="4457700" y="2505075"/>
            <a:ext cx="2876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5,889만원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3408765-285C-4CC5-9D0E-7A85BF254E25}"/>
              </a:ext>
            </a:extLst>
          </p:cNvPr>
          <p:cNvSpPr>
            <a:spLocks noGrp="1"/>
          </p:cNvSpPr>
          <p:nvPr/>
        </p:nvSpPr>
        <p:spPr>
          <a:xfrm>
            <a:off x="4457700" y="3114675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ROAS 499.7%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68E742A-B21B-41F4-887B-6F7A7BBEBC52}"/>
              </a:ext>
            </a:extLst>
          </p:cNvPr>
          <p:cNvSpPr>
            <a:spLocks noGrp="1"/>
          </p:cNvSpPr>
          <p:nvPr/>
        </p:nvSpPr>
        <p:spPr>
          <a:xfrm>
            <a:off x="3790950" y="3743325"/>
            <a:ext cx="3333750" cy="15716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136760C-552F-4FD0-9CE1-00C4AFEB3DF5}"/>
              </a:ext>
            </a:extLst>
          </p:cNvPr>
          <p:cNvSpPr>
            <a:spLocks noGrp="1"/>
          </p:cNvSpPr>
          <p:nvPr/>
        </p:nvSpPr>
        <p:spPr>
          <a:xfrm>
            <a:off x="4457700" y="3990975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광고 매출기여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5A5DBF0-E612-49BA-B681-F1DB52129939}"/>
              </a:ext>
            </a:extLst>
          </p:cNvPr>
          <p:cNvSpPr>
            <a:spLocks noGrp="1"/>
          </p:cNvSpPr>
          <p:nvPr/>
        </p:nvSpPr>
        <p:spPr>
          <a:xfrm>
            <a:off x="4457700" y="4333875"/>
            <a:ext cx="2876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59.6%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A181A22-FE8E-4CED-B66A-E487D6FD542E}"/>
              </a:ext>
            </a:extLst>
          </p:cNvPr>
          <p:cNvSpPr>
            <a:spLocks noGrp="1"/>
          </p:cNvSpPr>
          <p:nvPr/>
        </p:nvSpPr>
        <p:spPr>
          <a:xfrm>
            <a:off x="4457700" y="4943475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6월 Sell-out 대비</a:t>
            </a:r>
          </a:p>
        </p:txBody>
      </p:sp>
      <p:graphicFrame>
        <p:nvGraphicFramePr>
          <p:cNvPr id="44" name="표 43"/>
          <p:cNvGraphicFramePr/>
          <p:nvPr>
            <p:extLst>
              <p:ext uri="{D42A27DB-BD31-4B8C-83A1-F6EECF244321}">
                <p14:modId xmlns:p14="http://schemas.microsoft.com/office/powerpoint/2010/main" val="1490851048"/>
              </p:ext>
            </p:extLst>
          </p:nvPr>
        </p:nvGraphicFramePr>
        <p:xfrm>
          <a:off x="7259782" y="2038350"/>
          <a:ext cx="4532169" cy="2933700"/>
        </p:xfrm>
        <a:graphic>
          <a:graphicData uri="http://schemas.openxmlformats.org/drawingml/2006/table">
            <a:tbl>
              <a:tblPr firstRow="1" bandRow="1"/>
              <a:tblGrid>
                <a:gridCol w="1510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0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07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8950">
                <a:tc>
                  <a:txBody>
                    <a:bodyPr/>
                    <a:lstStyle/>
                    <a:p>
                      <a:r>
                        <a:rPr sz="1600" dirty="0" err="1"/>
                        <a:t>성장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기여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품종</a:t>
                      </a:r>
                      <a:endParaRPr sz="1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 err="1"/>
                        <a:t>증가액</a:t>
                      </a:r>
                      <a:endParaRPr sz="1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MoM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r>
                        <a:rPr sz="1400" dirty="0" err="1"/>
                        <a:t>애묘간식캔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+124.6%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r>
                        <a:rPr sz="1400" dirty="0" err="1"/>
                        <a:t>바이오</a:t>
                      </a:r>
                      <a:r>
                        <a:rPr sz="1400" dirty="0"/>
                        <a:t>(</a:t>
                      </a:r>
                      <a:r>
                        <a:rPr sz="1400" dirty="0" err="1"/>
                        <a:t>면역</a:t>
                      </a:r>
                      <a:r>
                        <a:rPr sz="1400" dirty="0"/>
                        <a:t>)-캣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+9.4%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r>
                        <a:rPr sz="1400"/>
                        <a:t>세븐-독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+112.8%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r>
                        <a:rPr sz="1400"/>
                        <a:t>세븐-캣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+144.6%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r>
                        <a:rPr sz="1400"/>
                        <a:t>바이오(면역)-독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+8.1%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C7EC6F24-47A1-4104-BA9B-288AF5505DC9}"/>
              </a:ext>
            </a:extLst>
          </p:cNvPr>
          <p:cNvSpPr>
            <a:spLocks noGrp="1"/>
          </p:cNvSpPr>
          <p:nvPr/>
        </p:nvSpPr>
        <p:spPr>
          <a:xfrm>
            <a:off x="8167254" y="5829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해석</a:t>
            </a:r>
            <a:endParaRPr sz="1650" b="1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ED4BF90-D1D8-4EAF-9AC1-931118656E96}"/>
              </a:ext>
            </a:extLst>
          </p:cNvPr>
          <p:cNvSpPr>
            <a:spLocks noGrp="1"/>
          </p:cNvSpPr>
          <p:nvPr/>
        </p:nvSpPr>
        <p:spPr>
          <a:xfrm>
            <a:off x="8763000" y="5895975"/>
            <a:ext cx="285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858" lnSpcReduction="20000"/>
          </a:bodyPr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애묘간식캔</a:t>
            </a:r>
            <a:r>
              <a:rPr sz="13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바이오</a:t>
            </a:r>
            <a:r>
              <a:rPr sz="13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캣, </a:t>
            </a:r>
            <a:r>
              <a:rPr sz="13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세븐</a:t>
            </a:r>
            <a:r>
              <a:rPr sz="13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라인이</a:t>
            </a:r>
            <a:r>
              <a:rPr sz="13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동시에</a:t>
            </a:r>
            <a:r>
              <a:rPr sz="13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올라오며</a:t>
            </a:r>
            <a:r>
              <a:rPr sz="13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카테고리</a:t>
            </a:r>
            <a:r>
              <a:rPr sz="13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포트폴리오가</a:t>
            </a:r>
            <a:r>
              <a:rPr sz="13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넓어졌습니다</a:t>
            </a:r>
            <a:r>
              <a:rPr sz="13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3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다만</a:t>
            </a:r>
            <a:r>
              <a:rPr sz="13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PPM은</a:t>
            </a:r>
            <a:r>
              <a:rPr sz="13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5월 36.66%에서 6월 35.32%로 </a:t>
            </a:r>
            <a:r>
              <a:rPr sz="13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낮아져</a:t>
            </a:r>
            <a:r>
              <a:rPr sz="13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판촉</a:t>
            </a:r>
            <a:r>
              <a:rPr sz="13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비용</a:t>
            </a:r>
            <a:r>
              <a:rPr sz="13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관리는</a:t>
            </a:r>
            <a:r>
              <a:rPr sz="13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필요합니다</a:t>
            </a:r>
            <a:r>
              <a:rPr sz="13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FDC8731-400A-0239-D9A8-46A20991B9F1}"/>
              </a:ext>
            </a:extLst>
          </p:cNvPr>
          <p:cNvSpPr>
            <a:spLocks noGrp="1"/>
          </p:cNvSpPr>
          <p:nvPr/>
        </p:nvSpPr>
        <p:spPr>
          <a:xfrm>
            <a:off x="10480097" y="1866900"/>
            <a:ext cx="129020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1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단위 </a:t>
            </a:r>
            <a:r>
              <a:rPr lang="en-US" altLang="ko-KR" sz="11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lang="ko-KR" altLang="en-US" sz="11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백만원</a:t>
            </a:r>
            <a:r>
              <a:rPr lang="en-US" altLang="ko-KR" sz="11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, %</a:t>
            </a:r>
            <a:endParaRPr sz="1100" b="1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573288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19B13DD2-5296-4506-91EA-825F5BA6ADB5}"/>
              </a:ext>
            </a:extLst>
          </p:cNvPr>
          <p:cNvSpPr>
            <a:spLocks noGrp="1"/>
          </p:cNvSpPr>
          <p:nvPr/>
        </p:nvSpPr>
        <p:spPr>
          <a:xfrm>
            <a:off x="400049" y="342900"/>
            <a:ext cx="10554277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7월은 </a:t>
            </a:r>
            <a:r>
              <a:rPr sz="3600" b="1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발주</a:t>
            </a:r>
            <a:r>
              <a:rPr lang="en-US" sz="36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6400</a:t>
            </a:r>
            <a:r>
              <a:rPr lang="ko-KR" altLang="en-US" sz="36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만원 확보</a:t>
            </a:r>
            <a:endParaRPr sz="3600" b="1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986390C-34DF-428F-97FD-9234A1B0366A}"/>
              </a:ext>
            </a:extLst>
          </p:cNvPr>
          <p:cNvSpPr>
            <a:spLocks noGrp="1"/>
          </p:cNvSpPr>
          <p:nvPr/>
        </p:nvSpPr>
        <p:spPr>
          <a:xfrm>
            <a:off x="400049" y="1352550"/>
            <a:ext cx="789420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높은</a:t>
            </a:r>
            <a:r>
              <a:rPr sz="16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매출</a:t>
            </a:r>
            <a:r>
              <a:rPr sz="16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다음</a:t>
            </a:r>
            <a:r>
              <a:rPr sz="16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달에</a:t>
            </a:r>
            <a:r>
              <a:rPr sz="16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포함가</a:t>
            </a:r>
            <a:r>
              <a:rPr sz="16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기준</a:t>
            </a:r>
            <a:r>
              <a:rPr sz="16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6,400만원 </a:t>
            </a:r>
            <a:r>
              <a:rPr sz="16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확정</a:t>
            </a:r>
            <a:r>
              <a:rPr sz="16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발주가</a:t>
            </a:r>
            <a:r>
              <a:rPr sz="16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유입된</a:t>
            </a:r>
            <a:r>
              <a:rPr sz="16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점은</a:t>
            </a:r>
            <a:r>
              <a:rPr sz="16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긍정적입니다</a:t>
            </a:r>
            <a:r>
              <a:rPr sz="16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19804AB-ABC6-4B48-AC4A-27F77BDB63BC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Coupang Monthly Review · 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933F903-8393-42B4-93AF-4B2280204980}"/>
              </a:ext>
            </a:extLst>
          </p:cNvPr>
          <p:cNvSpPr>
            <a:spLocks noGrp="1"/>
          </p:cNvSpPr>
          <p:nvPr/>
        </p:nvSpPr>
        <p:spPr>
          <a:xfrm>
            <a:off x="11125200" y="628650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6C4560C-1517-4CB9-B2BB-16FA4098AA62}"/>
              </a:ext>
            </a:extLst>
          </p:cNvPr>
          <p:cNvSpPr>
            <a:spLocks noGrp="1"/>
          </p:cNvSpPr>
          <p:nvPr/>
        </p:nvSpPr>
        <p:spPr>
          <a:xfrm>
            <a:off x="400050" y="2076450"/>
            <a:ext cx="2714625" cy="1428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E951264-6A62-47B7-9DDB-07CF37FD4FEB}"/>
              </a:ext>
            </a:extLst>
          </p:cNvPr>
          <p:cNvSpPr>
            <a:spLocks noGrp="1"/>
          </p:cNvSpPr>
          <p:nvPr/>
        </p:nvSpPr>
        <p:spPr>
          <a:xfrm>
            <a:off x="628650" y="2286000"/>
            <a:ext cx="22574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7월 Sell-out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D8DFF41-FCB5-4E45-B8F5-4C1C3517108F}"/>
              </a:ext>
            </a:extLst>
          </p:cNvPr>
          <p:cNvSpPr>
            <a:spLocks noGrp="1"/>
          </p:cNvSpPr>
          <p:nvPr/>
        </p:nvSpPr>
        <p:spPr>
          <a:xfrm>
            <a:off x="628650" y="2628900"/>
            <a:ext cx="22574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1,811만원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B67568-FD0A-43D8-8931-1BD5AEBBFAC8}"/>
              </a:ext>
            </a:extLst>
          </p:cNvPr>
          <p:cNvSpPr>
            <a:spLocks noGrp="1"/>
          </p:cNvSpPr>
          <p:nvPr/>
        </p:nvSpPr>
        <p:spPr>
          <a:xfrm>
            <a:off x="628650" y="3238500"/>
            <a:ext cx="22574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7/5까지 POS </a:t>
            </a:r>
            <a:r>
              <a:rPr sz="1350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기준</a:t>
            </a:r>
            <a:endParaRPr sz="1350" b="0" dirty="0">
              <a:solidFill>
                <a:srgbClr val="55555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9C4E68A-F240-46D5-9043-E13BB3AFE909}"/>
              </a:ext>
            </a:extLst>
          </p:cNvPr>
          <p:cNvSpPr>
            <a:spLocks noGrp="1"/>
          </p:cNvSpPr>
          <p:nvPr/>
        </p:nvSpPr>
        <p:spPr>
          <a:xfrm>
            <a:off x="3429000" y="2076450"/>
            <a:ext cx="2714625" cy="1428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A2734B9-9A17-42C5-A4FD-FC0C9C19C3C1}"/>
              </a:ext>
            </a:extLst>
          </p:cNvPr>
          <p:cNvSpPr>
            <a:spLocks noGrp="1"/>
          </p:cNvSpPr>
          <p:nvPr/>
        </p:nvSpPr>
        <p:spPr>
          <a:xfrm>
            <a:off x="3657600" y="2286000"/>
            <a:ext cx="22574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일평균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65B082-138C-46B8-BDC7-D598856E0618}"/>
              </a:ext>
            </a:extLst>
          </p:cNvPr>
          <p:cNvSpPr>
            <a:spLocks noGrp="1"/>
          </p:cNvSpPr>
          <p:nvPr/>
        </p:nvSpPr>
        <p:spPr>
          <a:xfrm>
            <a:off x="3657600" y="2628900"/>
            <a:ext cx="22574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362만원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98BDF81-3968-4CE9-BFF7-96A7526F10BC}"/>
              </a:ext>
            </a:extLst>
          </p:cNvPr>
          <p:cNvSpPr>
            <a:spLocks noGrp="1"/>
          </p:cNvSpPr>
          <p:nvPr/>
        </p:nvSpPr>
        <p:spPr>
          <a:xfrm>
            <a:off x="3657600" y="3238500"/>
            <a:ext cx="22574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월환산 1.12억원 수준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676D2CE-D364-4EB7-8B8D-0C4C1916441E}"/>
              </a:ext>
            </a:extLst>
          </p:cNvPr>
          <p:cNvSpPr>
            <a:spLocks noGrp="1"/>
          </p:cNvSpPr>
          <p:nvPr/>
        </p:nvSpPr>
        <p:spPr>
          <a:xfrm>
            <a:off x="6457950" y="2076450"/>
            <a:ext cx="2714625" cy="1428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6B089C4-F789-4046-A511-41CF6C812AAD}"/>
              </a:ext>
            </a:extLst>
          </p:cNvPr>
          <p:cNvSpPr>
            <a:spLocks noGrp="1"/>
          </p:cNvSpPr>
          <p:nvPr/>
        </p:nvSpPr>
        <p:spPr>
          <a:xfrm>
            <a:off x="6686550" y="2286000"/>
            <a:ext cx="22574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확정 발주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E9E6E2F-9739-4B3E-ABF5-110B3D3E3678}"/>
              </a:ext>
            </a:extLst>
          </p:cNvPr>
          <p:cNvSpPr>
            <a:spLocks noGrp="1"/>
          </p:cNvSpPr>
          <p:nvPr/>
        </p:nvSpPr>
        <p:spPr>
          <a:xfrm>
            <a:off x="6686550" y="2628900"/>
            <a:ext cx="22574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6,400만원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82A9B58-B74C-46CF-A2A9-C56DF17B03C5}"/>
              </a:ext>
            </a:extLst>
          </p:cNvPr>
          <p:cNvSpPr>
            <a:spLocks noGrp="1"/>
          </p:cNvSpPr>
          <p:nvPr/>
        </p:nvSpPr>
        <p:spPr>
          <a:xfrm>
            <a:off x="6686550" y="3238500"/>
            <a:ext cx="22574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포함가 기준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A0BA329-29C4-43B6-86E2-082B7F2F06AF}"/>
              </a:ext>
            </a:extLst>
          </p:cNvPr>
          <p:cNvSpPr>
            <a:spLocks noGrp="1"/>
          </p:cNvSpPr>
          <p:nvPr/>
        </p:nvSpPr>
        <p:spPr>
          <a:xfrm>
            <a:off x="9486900" y="2076450"/>
            <a:ext cx="2095500" cy="1428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7B17180-3502-4D50-A1E8-02CCE9791A5A}"/>
              </a:ext>
            </a:extLst>
          </p:cNvPr>
          <p:cNvSpPr>
            <a:spLocks noGrp="1"/>
          </p:cNvSpPr>
          <p:nvPr/>
        </p:nvSpPr>
        <p:spPr>
          <a:xfrm>
            <a:off x="9601200" y="2286000"/>
            <a:ext cx="1638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6월 </a:t>
            </a:r>
            <a:r>
              <a:rPr sz="1575" b="1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확정매출</a:t>
            </a:r>
            <a:endParaRPr sz="1575" b="1" dirty="0">
              <a:solidFill>
                <a:srgbClr val="55555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80E5093-41C5-41FC-ACE1-80F476FC4491}"/>
              </a:ext>
            </a:extLst>
          </p:cNvPr>
          <p:cNvSpPr>
            <a:spLocks noGrp="1"/>
          </p:cNvSpPr>
          <p:nvPr/>
        </p:nvSpPr>
        <p:spPr>
          <a:xfrm>
            <a:off x="9601200" y="2626014"/>
            <a:ext cx="1959264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743"/>
          </a:bodyPr>
          <a:lstStyle/>
          <a:p>
            <a:pPr algn="l">
              <a:def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8,241만원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1A0836B-955B-4DB7-937B-012C383D3302}"/>
              </a:ext>
            </a:extLst>
          </p:cNvPr>
          <p:cNvSpPr>
            <a:spLocks noGrp="1"/>
          </p:cNvSpPr>
          <p:nvPr/>
        </p:nvSpPr>
        <p:spPr>
          <a:xfrm>
            <a:off x="9715500" y="3238500"/>
            <a:ext cx="1638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입고/매입 기준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2FCA89E-39E3-432D-93F9-C876C2A43AFF}"/>
              </a:ext>
            </a:extLst>
          </p:cNvPr>
          <p:cNvSpPr>
            <a:spLocks noGrp="1"/>
          </p:cNvSpPr>
          <p:nvPr/>
        </p:nvSpPr>
        <p:spPr>
          <a:xfrm>
            <a:off x="400050" y="4315114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6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다음</a:t>
            </a:r>
            <a:r>
              <a:rPr sz="2625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625" b="1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액션</a:t>
            </a:r>
            <a:endParaRPr sz="2625" b="1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546E90A-0E0E-4A52-A017-8E352BBDBD0B}"/>
              </a:ext>
            </a:extLst>
          </p:cNvPr>
          <p:cNvSpPr>
            <a:spLocks noGrp="1"/>
          </p:cNvSpPr>
          <p:nvPr/>
        </p:nvSpPr>
        <p:spPr>
          <a:xfrm>
            <a:off x="3048000" y="4315114"/>
            <a:ext cx="8191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2" indent="-12" algn="l">
              <a:lnSpc>
                <a:spcPct val="115000"/>
              </a:lnSpc>
              <a:buNone/>
              <a:def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고양이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바이오·애묘캔·세븐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캣의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재고를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우선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점검해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품절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리스크를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줄입니다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lang="en-US" sz="1575" b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  <a:p>
            <a:pPr marL="22" indent="-12" algn="l">
              <a:lnSpc>
                <a:spcPct val="115000"/>
              </a:lnSpc>
              <a:buNone/>
              <a:def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&gt;&gt; MOQ </a:t>
            </a:r>
            <a:r>
              <a:rPr lang="ko-KR" altLang="en-US"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변경 등으로 조정</a:t>
            </a:r>
            <a:endParaRPr sz="1575" b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  <a:p>
            <a:pPr marL="22" indent="-12" algn="l">
              <a:lnSpc>
                <a:spcPct val="115000"/>
              </a:lnSpc>
              <a:buNone/>
              <a:def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쿠폰은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성장에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기여했지만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비용도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커졌으므로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SKU별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할인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효율을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나눠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봅니다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lang="en-US" sz="1575" b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  <a:p>
            <a:pPr marL="22" indent="-12" algn="l">
              <a:lnSpc>
                <a:spcPct val="115000"/>
              </a:lnSpc>
              <a:buNone/>
              <a:def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&gt;&gt; </a:t>
            </a:r>
            <a:r>
              <a:rPr lang="ko-KR" altLang="en-US" sz="1575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부진카테고리</a:t>
            </a:r>
            <a:r>
              <a:rPr lang="en-US" altLang="ko-KR" sz="1575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ko-KR" altLang="en-US" sz="1575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에이지라인</a:t>
            </a:r>
            <a:r>
              <a:rPr lang="en-US" altLang="ko-KR" sz="1575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) </a:t>
            </a:r>
            <a:r>
              <a:rPr lang="ko-KR" altLang="en-US" sz="1575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쿠폰 확대하여 기존 매출 및 추가 매출 확대</a:t>
            </a:r>
            <a:endParaRPr sz="1575" b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  <a:p>
            <a:pPr marL="22" indent="-12" algn="l">
              <a:lnSpc>
                <a:spcPct val="115000"/>
              </a:lnSpc>
              <a:buNone/>
              <a:def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광고는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효율이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유지되는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애묘사료·애견사료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중심으로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예산을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유지하고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유산균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데일리스틱은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효율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개선이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필요합니다</a:t>
            </a:r>
            <a:r>
              <a:rPr sz="1575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BD64F7B-E0F9-43B4-9D0F-E30EE546DAF8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Coupang Monthly Review · 6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08DD68B-9FE9-45CF-904B-6D8CDB3020A9}"/>
              </a:ext>
            </a:extLst>
          </p:cNvPr>
          <p:cNvSpPr>
            <a:spLocks noGrp="1"/>
          </p:cNvSpPr>
          <p:nvPr/>
        </p:nvSpPr>
        <p:spPr>
          <a:xfrm>
            <a:off x="11125200" y="628650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023BDA3-E5FB-D969-A5B2-48194F4CEBC2}"/>
              </a:ext>
            </a:extLst>
          </p:cNvPr>
          <p:cNvSpPr>
            <a:spLocks noGrp="1"/>
          </p:cNvSpPr>
          <p:nvPr/>
        </p:nvSpPr>
        <p:spPr>
          <a:xfrm>
            <a:off x="628649" y="3609975"/>
            <a:ext cx="22574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3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** </a:t>
            </a:r>
            <a:r>
              <a:rPr lang="ko-KR" altLang="en-US" sz="13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예상 </a:t>
            </a:r>
            <a:r>
              <a:rPr lang="en-US" altLang="ko-KR" sz="13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Sell-out 11,262</a:t>
            </a:r>
            <a:r>
              <a:rPr lang="ko-KR" altLang="en-US" sz="1350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만원</a:t>
            </a:r>
            <a:endParaRPr sz="1350" b="0" dirty="0">
              <a:solidFill>
                <a:srgbClr val="555555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75616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F988B-D6A3-3909-2775-B74347E80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123DB0C0-CD45-3AD2-BE37-D5E11CB9C361}"/>
              </a:ext>
            </a:extLst>
          </p:cNvPr>
          <p:cNvSpPr>
            <a:spLocks noGrp="1"/>
          </p:cNvSpPr>
          <p:nvPr/>
        </p:nvSpPr>
        <p:spPr>
          <a:xfrm>
            <a:off x="400049" y="342900"/>
            <a:ext cx="10554277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36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24</a:t>
            </a:r>
            <a:r>
              <a:rPr lang="ko-KR" altLang="en-US" sz="36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일 골드박스 및 타임할인 미니 브랜드 데이</a:t>
            </a:r>
            <a:endParaRPr sz="3600" b="1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5EBB6739-E216-4954-FE8E-3E29430DE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08" y="1409700"/>
            <a:ext cx="6597813" cy="31623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FC027E9-918B-9DC9-0D3E-BFCCABDB94CF}"/>
              </a:ext>
            </a:extLst>
          </p:cNvPr>
          <p:cNvSpPr txBox="1"/>
          <p:nvPr/>
        </p:nvSpPr>
        <p:spPr>
          <a:xfrm>
            <a:off x="400049" y="1043709"/>
            <a:ext cx="4236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- P-sub </a:t>
            </a:r>
            <a:r>
              <a:rPr lang="ko-KR" altLang="en-US" dirty="0"/>
              <a:t>구좌 집행 하루 비용 </a:t>
            </a:r>
            <a:r>
              <a:rPr lang="en-US" altLang="ko-KR" dirty="0"/>
              <a:t>200</a:t>
            </a:r>
            <a:r>
              <a:rPr lang="ko-KR" altLang="en-US" dirty="0"/>
              <a:t>만원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75693B-355F-A6BD-A7D9-8CB72523C251}"/>
              </a:ext>
            </a:extLst>
          </p:cNvPr>
          <p:cNvSpPr txBox="1"/>
          <p:nvPr/>
        </p:nvSpPr>
        <p:spPr>
          <a:xfrm>
            <a:off x="524309" y="4663209"/>
            <a:ext cx="74743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- </a:t>
            </a:r>
            <a:r>
              <a:rPr lang="ko-KR" altLang="en-US" dirty="0"/>
              <a:t>베스트셀러 및 확대 품목 골드박스</a:t>
            </a:r>
            <a:r>
              <a:rPr lang="en-US" altLang="ko-KR" dirty="0"/>
              <a:t>(1</a:t>
            </a:r>
            <a:r>
              <a:rPr lang="ko-KR" altLang="en-US" dirty="0"/>
              <a:t>건</a:t>
            </a:r>
            <a:r>
              <a:rPr lang="en-US" altLang="ko-KR" dirty="0"/>
              <a:t>)+</a:t>
            </a:r>
            <a:r>
              <a:rPr lang="ko-KR" altLang="en-US" dirty="0"/>
              <a:t>타임할인</a:t>
            </a:r>
            <a:r>
              <a:rPr lang="en-US" altLang="ko-KR" dirty="0"/>
              <a:t>(2)</a:t>
            </a:r>
            <a:r>
              <a:rPr lang="ko-KR" altLang="en-US" dirty="0"/>
              <a:t> 진행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골드박스 고양이</a:t>
            </a:r>
            <a:r>
              <a:rPr lang="en-US" altLang="ko-KR" dirty="0"/>
              <a:t>(</a:t>
            </a:r>
            <a:r>
              <a:rPr lang="ko-KR" altLang="en-US" dirty="0" err="1"/>
              <a:t>건사료</a:t>
            </a:r>
            <a:r>
              <a:rPr lang="en-US" altLang="ko-KR" dirty="0"/>
              <a:t>)</a:t>
            </a:r>
            <a:r>
              <a:rPr lang="ko-KR" altLang="en-US" dirty="0"/>
              <a:t> 제품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타임할인 </a:t>
            </a:r>
            <a:r>
              <a:rPr lang="en-US" altLang="ko-KR" dirty="0"/>
              <a:t>1.</a:t>
            </a:r>
            <a:r>
              <a:rPr lang="ko-KR" altLang="en-US" dirty="0"/>
              <a:t> </a:t>
            </a:r>
            <a:r>
              <a:rPr lang="ko-KR" altLang="en-US" dirty="0" err="1"/>
              <a:t>애묘캔</a:t>
            </a:r>
            <a:r>
              <a:rPr lang="ko-KR" altLang="en-US" dirty="0"/>
              <a:t> 제품 </a:t>
            </a:r>
            <a:r>
              <a:rPr lang="en-US" altLang="ko-KR" dirty="0"/>
              <a:t>/ 2. </a:t>
            </a:r>
            <a:r>
              <a:rPr lang="ko-KR" altLang="en-US" dirty="0"/>
              <a:t>강아지 </a:t>
            </a:r>
            <a:r>
              <a:rPr lang="ko-KR" altLang="en-US" dirty="0" err="1"/>
              <a:t>건사료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755285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520</Words>
  <Application>Microsoft Office PowerPoint</Application>
  <DocSecurity>0</DocSecurity>
  <PresentationFormat>와이드스크린</PresentationFormat>
  <Paragraphs>101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Malgun Gothic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CHOIIH</cp:lastModifiedBy>
  <cp:revision>3</cp:revision>
  <dcterms:created xsi:type="dcterms:W3CDTF">2026-07-06T03:55:37Z</dcterms:created>
  <dcterms:modified xsi:type="dcterms:W3CDTF">2026-07-06T04:32:16Z</dcterms:modified>
</cp:coreProperties>
</file>