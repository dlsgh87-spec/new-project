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21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현장 미팅 메모 및 사용자가 제공한 박람회 촬영 사진 기반 정리.</a:t>
            </a:r>
          </a:p>
          <a:p>
            <a:r>
              <a:t>업체 홈페이지 또는 박람회 공식 페이지 확인 내용은 본문에 별도 표기.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AD79DC5-9464-41AB-ABF6-36AC5B432A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15233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CAD68FA-FFAA-4CE7-B685-1F5D11C6E6FE}"/>
              </a:ext>
            </a:extLst>
          </p:cNvPr>
          <p:cNvSpPr>
            <a:spLocks noGrp="1"/>
          </p:cNvSpPr>
          <p:nvPr/>
        </p:nvSpPr>
        <p:spPr>
          <a:xfrm>
            <a:off x="0" y="5772150"/>
            <a:ext cx="12192000" cy="1085850"/>
          </a:xfrm>
          <a:prstGeom prst="roundRect">
            <a:avLst>
              <a:gd name="adj" fmla="val 7018"/>
            </a:avLst>
          </a:prstGeom>
          <a:solidFill>
            <a:srgbClr val="F5C542"/>
          </a:solidFill>
          <a:ln w="0">
            <a:noFill/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89C2CD-60D1-42CC-BB05-EC8B7051D76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5C5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C542"/>
                </a:solidFill>
                <a:latin typeface="Malgun Gothic"/>
                <a:ea typeface="Malgun Gothic"/>
                <a:cs typeface="Malgun Gothic"/>
              </a:rPr>
              <a:t>PET FAIR ASIA 2026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D09B01-CFB9-4576-843C-6DAA41E26E5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42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중국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반려동물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박람회</a:t>
            </a:r>
            <a:r>
              <a:rPr lang="en-US"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</a:p>
          <a:p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보고서 </a:t>
            </a:r>
            <a:endParaRPr sz="40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22EC88-E774-457D-98F0-46B19211BEED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상해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박람회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현장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소싱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후보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업체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검토</a:t>
            </a:r>
            <a:r>
              <a:rPr sz="150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1500" b="0" dirty="0">
              <a:solidFill>
                <a:srgbClr val="E7ED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6D3984-BBC1-4F3D-8A39-7406AF3B60D9}"/>
              </a:ext>
            </a:extLst>
          </p:cNvPr>
          <p:cNvSpPr>
            <a:spLocks noGrp="1"/>
          </p:cNvSpPr>
          <p:nvPr/>
        </p:nvSpPr>
        <p:spPr>
          <a:xfrm>
            <a:off x="704850" y="6076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endParaRPr sz="1275" b="1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2A930B-D93D-4FF4-BD87-B20E0F04E770}"/>
              </a:ext>
            </a:extLst>
          </p:cNvPr>
          <p:cNvSpPr>
            <a:spLocks noGrp="1"/>
          </p:cNvSpPr>
          <p:nvPr/>
        </p:nvSpPr>
        <p:spPr>
          <a:xfrm>
            <a:off x="704850" y="6085753"/>
            <a:ext cx="6858000" cy="4586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출장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보고서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미팅업체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7개 · RMB 210원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환산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기준</a:t>
            </a:r>
            <a:endParaRPr lang="en-US" sz="1200" b="0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출장인원 </a:t>
            </a:r>
            <a:r>
              <a:rPr lang="en-US" altLang="ko-KR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: 2</a:t>
            </a:r>
            <a:r>
              <a:rPr lang="ko-KR" altLang="en-US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명 최인호 차장</a:t>
            </a:r>
            <a:r>
              <a:rPr lang="en-US" altLang="ko-KR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선우영과장</a:t>
            </a:r>
            <a:r>
              <a:rPr lang="ko-KR" altLang="en-US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sz="1200" b="0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799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BD1DA8-F9CA-4ABF-8E56-F67D8156E0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출장 결과 요약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1C13EB-E9B5-43EC-A8D4-481A136057D3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캔·소용량 토핑·동결건조 원물 중심으로 후속 견적과 샘플 검증이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FA72B4-96EB-49E3-AABE-E88687DF442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F669EE-1091-40A1-BFC8-0A0B7F25A379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F9FD983-7D2A-4AD1-B0C6-F20415D59AAC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82688-47F2-42CF-9908-A5BDC40145A3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/>
                <a:ea typeface="Malgun Gothic"/>
                <a:cs typeface="Malgun Gothic"/>
              </a:rPr>
              <a:t>1. 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BFF54-44F9-4355-A704-04ABED63ED6F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Food를 캔 1순위로 두고, Wonderful Kitchen은 캔+간식 복합 후보로 유지합니다.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FCEB198-4846-42D3-BE97-699931DB73A5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B5F079-7654-40FC-9643-F79EDC2A5EB8}"/>
              </a:ext>
            </a:extLst>
          </p:cNvPr>
          <p:cNvSpPr>
            <a:spLocks noGrp="1"/>
          </p:cNvSpPr>
          <p:nvPr/>
        </p:nvSpPr>
        <p:spPr>
          <a:xfrm>
            <a:off x="6324600" y="18478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1800" b="1" dirty="0">
                <a:latin typeface="Malgun Gothic"/>
                <a:ea typeface="Malgun Gothic"/>
                <a:cs typeface="Malgun Gothic"/>
              </a:rPr>
              <a:t>/</a:t>
            </a:r>
            <a:r>
              <a:rPr sz="1800" b="1" dirty="0" err="1">
                <a:latin typeface="Malgun Gothic"/>
                <a:ea typeface="Malgun Gothic"/>
                <a:cs typeface="Malgun Gothic"/>
              </a:rPr>
              <a:t>다양</a:t>
            </a:r>
            <a:r>
              <a:rPr sz="1800" b="1" dirty="0"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latin typeface="Malgun Gothic"/>
                <a:ea typeface="Malgun Gothic"/>
                <a:cs typeface="Malgun Gothic"/>
              </a:rPr>
              <a:t>제</a:t>
            </a:r>
            <a:r>
              <a:rPr sz="1800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형</a:t>
            </a:r>
            <a:endParaRPr sz="18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928EB9-5426-43B6-BEDB-C91E8A6F813E}"/>
              </a:ext>
            </a:extLst>
          </p:cNvPr>
          <p:cNvSpPr>
            <a:spLocks noGrp="1"/>
          </p:cNvSpPr>
          <p:nvPr/>
        </p:nvSpPr>
        <p:spPr>
          <a:xfrm>
            <a:off x="6324600" y="22288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Jinchong은 난황·닭가슴살·캣닢 토핑 등 제형 폭이 넓어 우선순위 상향을 검토합니다.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EDDE65-8F2E-4052-A601-0169B61D96DA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8A42AB-99A0-4A4D-95C4-CAA7EB52EB77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8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원물</a:t>
            </a:r>
            <a:endParaRPr sz="18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B7A405-8309-43AE-8C9F-11D48B0B9071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새우·관자·가리비 등 원물형 제품은 동결건조 기준으로 샘플과 단가를 분리 확인합니다.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14B770-B710-4DC7-B8E8-5D70DF6F2DF4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A292FD-6BFA-486B-9ACE-5ED531C2A978}"/>
              </a:ext>
            </a:extLst>
          </p:cNvPr>
          <p:cNvSpPr>
            <a:spLocks noGrp="1"/>
          </p:cNvSpPr>
          <p:nvPr/>
        </p:nvSpPr>
        <p:spPr>
          <a:xfrm>
            <a:off x="6324600" y="36766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4. 보류/참고 후보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8954D3-C967-4CA0-A104-0427C33388BA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NakiPet·Jiangxi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Haci는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규모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참고용으로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유지하되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우선순위는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낮게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둡니다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6DDE468-31CA-4655-AFA5-E5CB546C1E1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287000" cy="590550"/>
          </a:xfrm>
          <a:prstGeom prst="roundRect">
            <a:avLst>
              <a:gd name="adj" fmla="val 12903"/>
            </a:avLst>
          </a:prstGeom>
          <a:solidFill>
            <a:srgbClr val="FFF5CC"/>
          </a:solidFill>
          <a:ln w="9525">
            <a:solidFill>
              <a:srgbClr val="E9C74F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809306-3074-432C-8F39-BD3B6590744C}"/>
              </a:ext>
            </a:extLst>
          </p:cNvPr>
          <p:cNvSpPr>
            <a:spLocks noGrp="1"/>
          </p:cNvSpPr>
          <p:nvPr/>
        </p:nvSpPr>
        <p:spPr>
          <a:xfrm>
            <a:off x="895350" y="57721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추후 계획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FA269E-2E96-416F-91B7-3628115BBD76}"/>
              </a:ext>
            </a:extLst>
          </p:cNvPr>
          <p:cNvSpPr>
            <a:spLocks noGrp="1"/>
          </p:cNvSpPr>
          <p:nvPr/>
        </p:nvSpPr>
        <p:spPr>
          <a:xfrm>
            <a:off x="2038350" y="57721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1순위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업체는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견적·수출서류·샘플을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우선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요청하고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나머지는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품목별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후보로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관리합니다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294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34A6DF36-9323-481F-B76F-DF589F5819D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업체별 검토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D9AA50-1940-4D21-BB26-C8ADD1D75340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업체별 강점과 리스크를 기준으로 후속 미팅 우선순위를 정리했습니다.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5FE23EA-AF4E-42FB-ACF8-11C9B6DEA5F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19B260-FC29-4B26-B77B-96B3BF4A34A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D4DEDC-A932-4B8F-B75F-4757698D496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38125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78978A-7B72-4206-84C2-8BAA6BF92C74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31A34C9-DC3D-4D16-8B71-CC6B35693E5E}"/>
              </a:ext>
            </a:extLst>
          </p:cNvPr>
          <p:cNvSpPr>
            <a:spLocks noGrp="1"/>
          </p:cNvSpPr>
          <p:nvPr/>
        </p:nvSpPr>
        <p:spPr>
          <a:xfrm>
            <a:off x="3067050" y="15049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7DC52A-6314-4B7C-9D6A-65AEC1DC240F}"/>
              </a:ext>
            </a:extLst>
          </p:cNvPr>
          <p:cNvSpPr>
            <a:spLocks noGrp="1"/>
          </p:cNvSpPr>
          <p:nvPr/>
        </p:nvSpPr>
        <p:spPr>
          <a:xfrm>
            <a:off x="3181350" y="160020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ECD93D-8F94-433C-99CC-7FF009EC05EB}"/>
              </a:ext>
            </a:extLst>
          </p:cNvPr>
          <p:cNvSpPr>
            <a:spLocks noGrp="1"/>
          </p:cNvSpPr>
          <p:nvPr/>
        </p:nvSpPr>
        <p:spPr>
          <a:xfrm>
            <a:off x="4591050" y="150495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11DB27-9C79-42DB-AA8C-0C985BBAEBD3}"/>
              </a:ext>
            </a:extLst>
          </p:cNvPr>
          <p:cNvSpPr>
            <a:spLocks noGrp="1"/>
          </p:cNvSpPr>
          <p:nvPr/>
        </p:nvSpPr>
        <p:spPr>
          <a:xfrm>
            <a:off x="4705350" y="1600200"/>
            <a:ext cx="3200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품목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2D9DDC-8825-41B8-8156-E97F47BAD387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325755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9C1B83-1AF5-4AD8-A132-C01300F956D3}"/>
              </a:ext>
            </a:extLst>
          </p:cNvPr>
          <p:cNvSpPr>
            <a:spLocks noGrp="1"/>
          </p:cNvSpPr>
          <p:nvPr/>
        </p:nvSpPr>
        <p:spPr>
          <a:xfrm>
            <a:off x="8134350" y="1600200"/>
            <a:ext cx="3028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미팅 포인트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F4B5A84-8883-441E-95FD-FC4DB3EAC9C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F2DD6F-BA9D-4B64-81E8-FD5F644546BB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08FD9F3-BA9B-4A82-B9B5-E3EEE5A654F3}"/>
              </a:ext>
            </a:extLst>
          </p:cNvPr>
          <p:cNvSpPr>
            <a:spLocks noGrp="1"/>
          </p:cNvSpPr>
          <p:nvPr/>
        </p:nvSpPr>
        <p:spPr>
          <a:xfrm>
            <a:off x="4591050" y="19431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A65538-A278-45B9-8385-96B5648F9B3E}"/>
              </a:ext>
            </a:extLst>
          </p:cNvPr>
          <p:cNvSpPr>
            <a:spLocks noGrp="1"/>
          </p:cNvSpPr>
          <p:nvPr/>
        </p:nvSpPr>
        <p:spPr>
          <a:xfrm>
            <a:off x="8020050" y="19431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E102F-EECE-40C2-BDD3-A06B9B53EA65}"/>
              </a:ext>
            </a:extLst>
          </p:cNvPr>
          <p:cNvSpPr>
            <a:spLocks noGrp="1"/>
          </p:cNvSpPr>
          <p:nvPr/>
        </p:nvSpPr>
        <p:spPr>
          <a:xfrm>
            <a:off x="800100" y="20288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E22E26-381F-49FF-A951-7E2EBB4389D2}"/>
              </a:ext>
            </a:extLst>
          </p:cNvPr>
          <p:cNvSpPr>
            <a:spLocks noGrp="1"/>
          </p:cNvSpPr>
          <p:nvPr/>
        </p:nvSpPr>
        <p:spPr>
          <a:xfrm>
            <a:off x="3181350" y="20764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캔+동결건조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78E9E8-6D53-4FFB-9943-F8D9B06888CE}"/>
              </a:ext>
            </a:extLst>
          </p:cNvPr>
          <p:cNvSpPr>
            <a:spLocks noGrp="1"/>
          </p:cNvSpPr>
          <p:nvPr/>
        </p:nvSpPr>
        <p:spPr>
          <a:xfrm>
            <a:off x="4705350" y="20193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9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85g·375g 캔, 주식캔, 닭가슴살+캣닢, 열빙어, 새우, 관자/가리비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0E22D8-FD04-44CC-8A27-5984C4234FF1}"/>
              </a:ext>
            </a:extLst>
          </p:cNvPr>
          <p:cNvSpPr>
            <a:spLocks noGrp="1"/>
          </p:cNvSpPr>
          <p:nvPr/>
        </p:nvSpPr>
        <p:spPr>
          <a:xfrm>
            <a:off x="8134350" y="20193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 수출 경험 확인. 캔과 간식 동시 견적 후보.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CD2A51-EB17-4346-A0B7-A4E7E766E8FD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B23BEC2-69E7-4F7A-A661-EF1AD75ECD2F}"/>
              </a:ext>
            </a:extLst>
          </p:cNvPr>
          <p:cNvSpPr>
            <a:spLocks noGrp="1"/>
          </p:cNvSpPr>
          <p:nvPr/>
        </p:nvSpPr>
        <p:spPr>
          <a:xfrm>
            <a:off x="3067050" y="24955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9D09C61-FB5F-4C6C-81DA-0F56910A7025}"/>
              </a:ext>
            </a:extLst>
          </p:cNvPr>
          <p:cNvSpPr>
            <a:spLocks noGrp="1"/>
          </p:cNvSpPr>
          <p:nvPr/>
        </p:nvSpPr>
        <p:spPr>
          <a:xfrm>
            <a:off x="4591050" y="24955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052FAF-1890-4393-9988-F52C6EABA6E3}"/>
              </a:ext>
            </a:extLst>
          </p:cNvPr>
          <p:cNvSpPr>
            <a:spLocks noGrp="1"/>
          </p:cNvSpPr>
          <p:nvPr/>
        </p:nvSpPr>
        <p:spPr>
          <a:xfrm>
            <a:off x="8020050" y="24955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9C85E8-6AC5-4A8E-B2D3-F214A05BB738}"/>
              </a:ext>
            </a:extLst>
          </p:cNvPr>
          <p:cNvSpPr>
            <a:spLocks noGrp="1"/>
          </p:cNvSpPr>
          <p:nvPr/>
        </p:nvSpPr>
        <p:spPr>
          <a:xfrm>
            <a:off x="800100" y="25812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Ltd.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335BC-5F5D-43EB-B077-8B4D45D0DCCB}"/>
              </a:ext>
            </a:extLst>
          </p:cNvPr>
          <p:cNvSpPr>
            <a:spLocks noGrp="1"/>
          </p:cNvSpPr>
          <p:nvPr/>
        </p:nvSpPr>
        <p:spPr>
          <a:xfrm>
            <a:off x="3181350" y="26289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캔 1순위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C1B1-0D35-42BC-A422-6BFBB1E14810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4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85g·170g·400g 참치/수산물 베이스 캔</a:t>
            </a:r>
            <a:endParaRPr sz="1050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C27FF5-7206-4901-9B2E-5EEA030AC746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수산물 가공·수출 기반. 캔 SKU 검토 우선.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702425B-F27A-410B-8806-6B6E43D88B7C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9E96243-59A7-4DE2-BDB8-D5B02981684B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26B13BF-57A2-47D6-8278-47FCB4198C05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11EC88D-C176-4421-8D4B-F499E5B69192}"/>
              </a:ext>
            </a:extLst>
          </p:cNvPr>
          <p:cNvSpPr>
            <a:spLocks noGrp="1"/>
          </p:cNvSpPr>
          <p:nvPr/>
        </p:nvSpPr>
        <p:spPr>
          <a:xfrm>
            <a:off x="8020050" y="30480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773EBE-1462-4201-94FB-4C5E434AB8C6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F48A33-F49F-4021-9E5D-6C570ADC8136}"/>
              </a:ext>
            </a:extLst>
          </p:cNvPr>
          <p:cNvSpPr>
            <a:spLocks noGrp="1"/>
          </p:cNvSpPr>
          <p:nvPr/>
        </p:nvSpPr>
        <p:spPr>
          <a:xfrm>
            <a:off x="3181350" y="31813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간식 후보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41AE23D-96C3-4408-8EA1-ED15A55774C7}"/>
              </a:ext>
            </a:extLst>
          </p:cNvPr>
          <p:cNvSpPr>
            <a:spLocks noGrp="1"/>
          </p:cNvSpPr>
          <p:nvPr/>
        </p:nvSpPr>
        <p:spPr>
          <a:xfrm>
            <a:off x="4705350" y="31242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75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닭가슴살+캣닢, 난황/계란, 열빙어, 기능성 큐브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D67DF9-D60A-4381-9D91-34332ACB929D}"/>
              </a:ext>
            </a:extLst>
          </p:cNvPr>
          <p:cNvSpPr>
            <a:spLocks noGrp="1"/>
          </p:cNvSpPr>
          <p:nvPr/>
        </p:nvSpPr>
        <p:spPr>
          <a:xfrm>
            <a:off x="8134350" y="31242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단가 우수. 한국향 서류 대응 범위 확인 필요.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E095BDD-C9C6-4E35-8568-E9E6C98DD4F0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4F0CBC3-2B52-4A6E-AF42-2D60669B2A52}"/>
              </a:ext>
            </a:extLst>
          </p:cNvPr>
          <p:cNvSpPr>
            <a:spLocks noGrp="1"/>
          </p:cNvSpPr>
          <p:nvPr/>
        </p:nvSpPr>
        <p:spPr>
          <a:xfrm>
            <a:off x="3067050" y="36004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0B37D9C-9EE8-4B33-90F5-6C5310AABCA3}"/>
              </a:ext>
            </a:extLst>
          </p:cNvPr>
          <p:cNvSpPr>
            <a:spLocks noGrp="1"/>
          </p:cNvSpPr>
          <p:nvPr/>
        </p:nvSpPr>
        <p:spPr>
          <a:xfrm>
            <a:off x="4591050" y="36004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91C3A76-2B0A-4CA3-ABE3-8129F3700B06}"/>
              </a:ext>
            </a:extLst>
          </p:cNvPr>
          <p:cNvSpPr>
            <a:spLocks noGrp="1"/>
          </p:cNvSpPr>
          <p:nvPr/>
        </p:nvSpPr>
        <p:spPr>
          <a:xfrm>
            <a:off x="8020050" y="36004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7E87CC-7F27-47D3-B3F5-9B198C4DF9C9}"/>
              </a:ext>
            </a:extLst>
          </p:cNvPr>
          <p:cNvSpPr>
            <a:spLocks noGrp="1"/>
          </p:cNvSpPr>
          <p:nvPr/>
        </p:nvSpPr>
        <p:spPr>
          <a:xfrm>
            <a:off x="800100" y="36861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D3E318-04C3-4F4C-86E1-7CB480FF187A}"/>
              </a:ext>
            </a:extLst>
          </p:cNvPr>
          <p:cNvSpPr>
            <a:spLocks noGrp="1"/>
          </p:cNvSpPr>
          <p:nvPr/>
        </p:nvSpPr>
        <p:spPr>
          <a:xfrm>
            <a:off x="318135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소용량/다양 제형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9B8898C-E39E-4854-A517-468788C95BE8}"/>
              </a:ext>
            </a:extLst>
          </p:cNvPr>
          <p:cNvSpPr>
            <a:spLocks noGrp="1"/>
          </p:cNvSpPr>
          <p:nvPr/>
        </p:nvSpPr>
        <p:spPr>
          <a:xfrm>
            <a:off x="4705350" y="36766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89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난황, 닭가슴살, 캣닢 토핑, 동결건조 딸기 10g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C5D9C0-B55D-4D87-AE10-645EC83B0509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제형 폭이 넓고 단가 양호. 포장비 포함 원가 확인 필요.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F957DD0-13AE-43E2-9CFB-5A81D83F992B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B83BD5-598E-4B0B-9A68-8647A3071453}"/>
              </a:ext>
            </a:extLst>
          </p:cNvPr>
          <p:cNvSpPr>
            <a:spLocks noGrp="1"/>
          </p:cNvSpPr>
          <p:nvPr/>
        </p:nvSpPr>
        <p:spPr>
          <a:xfrm>
            <a:off x="3067050" y="41529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BC177FC-821C-4CDB-BDDD-912BBA0301FF}"/>
              </a:ext>
            </a:extLst>
          </p:cNvPr>
          <p:cNvSpPr>
            <a:spLocks noGrp="1"/>
          </p:cNvSpPr>
          <p:nvPr/>
        </p:nvSpPr>
        <p:spPr>
          <a:xfrm>
            <a:off x="4591050" y="41529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A7736CB-E4C9-491F-81FB-B5776FD2BB2C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6B261F8-21E9-4F8F-9C9E-1EA0A1C8271A}"/>
              </a:ext>
            </a:extLst>
          </p:cNvPr>
          <p:cNvSpPr>
            <a:spLocks noGrp="1"/>
          </p:cNvSpPr>
          <p:nvPr/>
        </p:nvSpPr>
        <p:spPr>
          <a:xfrm>
            <a:off x="800100" y="42386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ELF FISH / JiLan Biotechnology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A22195F-04E6-4A68-AA31-51506E72029D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해산물 동결건조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D77CA2-DC63-43F2-91B9-93EB92A1658A}"/>
              </a:ext>
            </a:extLst>
          </p:cNvPr>
          <p:cNvSpPr>
            <a:spLocks noGrp="1"/>
          </p:cNvSpPr>
          <p:nvPr/>
        </p:nvSpPr>
        <p:spPr>
          <a:xfrm>
            <a:off x="4705350" y="42291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75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난황, 닭가슴살+캣닢, 새우, 관자/가리비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D1BE1EB-A804-4C5F-8EA4-E2562DDD06C7}"/>
              </a:ext>
            </a:extLst>
          </p:cNvPr>
          <p:cNvSpPr>
            <a:spLocks noGrp="1"/>
          </p:cNvSpPr>
          <p:nvPr/>
        </p:nvSpPr>
        <p:spPr>
          <a:xfrm>
            <a:off x="8134350" y="42291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원물 라인업 강점. 고가 품목은 선별 검토.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38A0AE6-4ABC-4104-9E7E-4BDAAD5BC802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3F0408D-177A-41E4-9E57-18AEBB7A38E2}"/>
              </a:ext>
            </a:extLst>
          </p:cNvPr>
          <p:cNvSpPr>
            <a:spLocks noGrp="1"/>
          </p:cNvSpPr>
          <p:nvPr/>
        </p:nvSpPr>
        <p:spPr>
          <a:xfrm>
            <a:off x="3067050" y="47053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1BFD543-C4B9-4C41-A1AD-EA5756B86F82}"/>
              </a:ext>
            </a:extLst>
          </p:cNvPr>
          <p:cNvSpPr>
            <a:spLocks noGrp="1"/>
          </p:cNvSpPr>
          <p:nvPr/>
        </p:nvSpPr>
        <p:spPr>
          <a:xfrm>
            <a:off x="4591050" y="47053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8F65304-176F-4FAD-9499-E548BC491592}"/>
              </a:ext>
            </a:extLst>
          </p:cNvPr>
          <p:cNvSpPr>
            <a:spLocks noGrp="1"/>
          </p:cNvSpPr>
          <p:nvPr/>
        </p:nvSpPr>
        <p:spPr>
          <a:xfrm>
            <a:off x="8020050" y="47053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55A7FC5-141E-452B-9A91-56F9203E9695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NakiPet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79C5688-6376-47D3-AC42-1803F455B8A6}"/>
              </a:ext>
            </a:extLst>
          </p:cNvPr>
          <p:cNvSpPr>
            <a:spLocks noGrp="1"/>
          </p:cNvSpPr>
          <p:nvPr/>
        </p:nvSpPr>
        <p:spPr>
          <a:xfrm>
            <a:off x="3181350" y="48387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프리미엄 원물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481FEB8-D5C1-44AC-AB8C-C120764C568E}"/>
              </a:ext>
            </a:extLst>
          </p:cNvPr>
          <p:cNvSpPr>
            <a:spLocks noGrp="1"/>
          </p:cNvSpPr>
          <p:nvPr/>
        </p:nvSpPr>
        <p:spPr>
          <a:xfrm>
            <a:off x="4705350" y="47815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82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난황, 캣닢, 새우, 관자/가리비, 콜라겐 덴탈츄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E24F158-1646-4084-B0BB-3043E86E2575}"/>
              </a:ext>
            </a:extLst>
          </p:cNvPr>
          <p:cNvSpPr>
            <a:spLocks noGrp="1"/>
          </p:cNvSpPr>
          <p:nvPr/>
        </p:nvSpPr>
        <p:spPr>
          <a:xfrm>
            <a:off x="8134350" y="47815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050" b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DD4FFAE-262A-4EAA-B5EF-603B8942AB30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82E1A22-D11F-4410-8917-15BDC60A7D94}"/>
              </a:ext>
            </a:extLst>
          </p:cNvPr>
          <p:cNvSpPr>
            <a:spLocks noGrp="1"/>
          </p:cNvSpPr>
          <p:nvPr/>
        </p:nvSpPr>
        <p:spPr>
          <a:xfrm>
            <a:off x="3067050" y="52578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99FC86C-5B4C-4921-A070-498EAE2F9FDE}"/>
              </a:ext>
            </a:extLst>
          </p:cNvPr>
          <p:cNvSpPr>
            <a:spLocks noGrp="1"/>
          </p:cNvSpPr>
          <p:nvPr/>
        </p:nvSpPr>
        <p:spPr>
          <a:xfrm>
            <a:off x="4591050" y="52578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DF1AAFE-3A79-42D6-A27A-C93782572611}"/>
              </a:ext>
            </a:extLst>
          </p:cNvPr>
          <p:cNvSpPr>
            <a:spLocks noGrp="1"/>
          </p:cNvSpPr>
          <p:nvPr/>
        </p:nvSpPr>
        <p:spPr>
          <a:xfrm>
            <a:off x="8020050" y="52578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1E44321-9343-4212-B95F-665ADB145C66}"/>
              </a:ext>
            </a:extLst>
          </p:cNvPr>
          <p:cNvSpPr>
            <a:spLocks noGrp="1"/>
          </p:cNvSpPr>
          <p:nvPr/>
        </p:nvSpPr>
        <p:spPr>
          <a:xfrm>
            <a:off x="800100" y="53435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83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Jiangxi Haci / Medellin Pet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596B128-739C-498F-BE5C-93A7E76301BC}"/>
              </a:ext>
            </a:extLst>
          </p:cNvPr>
          <p:cNvSpPr>
            <a:spLocks noGrp="1"/>
          </p:cNvSpPr>
          <p:nvPr/>
        </p:nvSpPr>
        <p:spPr>
          <a:xfrm>
            <a:off x="3181350" y="53911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덴탈/저키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9428C0F-2D33-47EF-A025-FAE3CD249D54}"/>
              </a:ext>
            </a:extLst>
          </p:cNvPr>
          <p:cNvSpPr>
            <a:spLocks noGrp="1"/>
          </p:cNvSpPr>
          <p:nvPr/>
        </p:nvSpPr>
        <p:spPr>
          <a:xfrm>
            <a:off x="4705350" y="53340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68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구강 간식, 난황+오리, 대두단백 랩핑 간식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329264B-1B22-45B4-847B-0A49F5F9CD0E}"/>
              </a:ext>
            </a:extLst>
          </p:cNvPr>
          <p:cNvSpPr>
            <a:spLocks noGrp="1"/>
          </p:cNvSpPr>
          <p:nvPr/>
        </p:nvSpPr>
        <p:spPr>
          <a:xfrm>
            <a:off x="8134350" y="53340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한국향 대응 불확실. 단기 우선순위 낮음.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874E4A4-7BD0-F470-C45B-D35DFC2CAF3F}"/>
              </a:ext>
            </a:extLst>
          </p:cNvPr>
          <p:cNvSpPr>
            <a:spLocks noGrp="1"/>
          </p:cNvSpPr>
          <p:nvPr/>
        </p:nvSpPr>
        <p:spPr>
          <a:xfrm>
            <a:off x="8134350" y="47720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품질은 양호하나 원가 높음. 샘플 확인용.</a:t>
            </a:r>
          </a:p>
        </p:txBody>
      </p:sp>
    </p:spTree>
    <p:extLst>
      <p:ext uri="{BB962C8B-B14F-4D97-AF65-F5344CB8AC3E}">
        <p14:creationId xmlns:p14="http://schemas.microsoft.com/office/powerpoint/2010/main" val="74863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0656F2-15C3-4A25-A083-176976CE0C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30BD9C-52D0-4E4E-819E-FABEEF26DCF9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캔과 동결건조 간식을 동시에 협의할 수 있는 최우선 후보입니다. 한국 수출 경험과 인증 기반이 확인돼 후속 견적 우선순위가 높습니다.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C12C6F2-85C1-4739-B13F-B1AE10DD4E4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370BF3-5213-4A88-B22E-B66E8221A40B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9EE658-3564-4EE1-867A-A690F6999113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9D247-1BEF-4ED3-B711-6BC9D180B5D0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1순위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ACC21D-7937-4235-9A37-B0E6FCC3FF0B}"/>
              </a:ext>
            </a:extLst>
          </p:cNvPr>
          <p:cNvSpPr>
            <a:spLocks noGrp="1"/>
          </p:cNvSpPr>
          <p:nvPr/>
        </p:nvSpPr>
        <p:spPr>
          <a:xfrm>
            <a:off x="1600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D59FC9-C8F9-4A9E-BF20-C17AFC931578}"/>
              </a:ext>
            </a:extLst>
          </p:cNvPr>
          <p:cNvSpPr>
            <a:spLocks noGrp="1"/>
          </p:cNvSpPr>
          <p:nvPr/>
        </p:nvSpPr>
        <p:spPr>
          <a:xfrm>
            <a:off x="1695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A3BF9A2-D6EC-4910-A151-EA64EA73761B}"/>
              </a:ext>
            </a:extLst>
          </p:cNvPr>
          <p:cNvSpPr>
            <a:spLocks noGrp="1"/>
          </p:cNvSpPr>
          <p:nvPr/>
        </p:nvSpPr>
        <p:spPr>
          <a:xfrm>
            <a:off x="27813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3AEC5E-1D9F-4EA5-B8C7-FF4E9C1CA91C}"/>
              </a:ext>
            </a:extLst>
          </p:cNvPr>
          <p:cNvSpPr>
            <a:spLocks noGrp="1"/>
          </p:cNvSpPr>
          <p:nvPr/>
        </p:nvSpPr>
        <p:spPr>
          <a:xfrm>
            <a:off x="28765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22E60B-9D8D-45F3-A04F-CC94779111D2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677"/>
            <a:ext cx="1714500" cy="1286197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266CFD-FAE7-4AC8-BDF9-85C0A40CE7A8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Wonderful Kitchen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F20FA6-74E4-46D0-98E4-1B42890B3376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KakaoTalk_20260824_095154886_01.jpg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3ED958C-56F6-40B2-BA43-7B707418D05B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A05A25-8BA4-4453-A49F-02D8AC2DC6B7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512" lnSpcReduction="10000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Wonderful Kitchen OEM 부스 보조 사진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C8A0AA-EDAA-4F39-BA30-3CA2EDC7445C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Wonderful Kitchen.jpg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DC80C3-607F-460B-A28A-4C53E03E974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A425B9D-74D4-42AD-9015-4B49BC400995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C0AF86-959F-44D2-9122-5F32438B801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EF9613-D7AB-42DD-B3A5-F11FA6E21979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94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 / Meow &amp; Pup Kitchen;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등록명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: Xuzhou U PET Petfood Co., Ltd.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2B89CF0-1DCD-4C92-BF09-871FA8368FDE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5A0D07-1D14-4FEC-8BC7-5C39B23E5702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4220F1-74B2-4D3B-98FE-5B9306D45D5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6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Lingkong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Industrial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Park,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Suining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Xuzhou, Jiangsu Province, China.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448967-481B-4CAC-9DEE-69EB1F17EE44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AA9071-FF80-4DF9-8745-A13A621FE5EA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C5F501-D949-4479-9973-E888A3DBB753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3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petfairasia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.com/en/showroom-2026/institutions/c7cj9h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F8CB327-8EBE-4E52-B39E-465B67E5B3DF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3DFA711-C093-43B5-9FAE-FB059F3AF47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FFAA4F-2A8C-4559-8CD1-A878F28D96E3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28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페이지상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South Korea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수출지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기재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메모상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합작회사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지분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CA8F0B-D4A1-4E4A-B91C-740245A9FE7E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55B0E9-254A-4852-9FEB-F743A8D1D2B9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8F57177-BCD6-4BE4-A88F-11D162599E4E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9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85g·375g 캔,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주식캔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딸기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홍합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21E6AF7-4184-4050-8A30-A57AEA0E9C37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5A7B78-2DED-41E3-9020-493F316984B0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BFD845-91F2-49C7-8B31-C6B3099BCE30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및 ISO22000·HACCP·FDA·BRC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캔과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번에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협의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6E61AB-3193-46A0-9C9F-B3E618491506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8AF29D5-4F63-4F39-AC0B-ABAC296B0894}"/>
              </a:ext>
            </a:extLst>
          </p:cNvPr>
          <p:cNvSpPr>
            <a:spLocks noGrp="1"/>
          </p:cNvSpPr>
          <p:nvPr/>
        </p:nvSpPr>
        <p:spPr>
          <a:xfrm>
            <a:off x="666750" y="4838699"/>
            <a:ext cx="6400800" cy="146050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6621FCD-96CC-46BC-929B-F76335A51B87}"/>
              </a:ext>
            </a:extLst>
          </p:cNvPr>
          <p:cNvSpPr>
            <a:spLocks noGrp="1"/>
          </p:cNvSpPr>
          <p:nvPr/>
        </p:nvSpPr>
        <p:spPr>
          <a:xfrm>
            <a:off x="857250" y="4904509"/>
            <a:ext cx="6000750" cy="13946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0968" lnSpcReduction="20000"/>
          </a:bodyPr>
          <a:lstStyle/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80 RMB/kg · 약 16,800원/kg · MOQ 100kg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90 RMB/kg · 약 18,900원/kg · MOQ 100kg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85g: 1.2 RMB/개 · 약 252원/개 · MOQ 10,000개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375g: 5 RMB/개 · 약 1,050원/개 · MOQ 10,000개</a:t>
            </a:r>
            <a:endParaRPr lang="en-US" sz="11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주식 캔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85g : 2 RMB/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400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</a:t>
            </a:r>
            <a:endParaRPr sz="11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120 RMB/kg · 약 25,200원/kg · MOQ 100kg</a:t>
            </a:r>
            <a:endParaRPr lang="en-US" sz="11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 동결건조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500 RMB/kg 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105,000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 </a:t>
            </a:r>
            <a:r>
              <a:rPr lang="en-US" altLang="ko-KR"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50~100kg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가리비 동결건조 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200 RMB/kg 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42,000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 </a:t>
            </a:r>
            <a:r>
              <a:rPr lang="en-US" altLang="ko-KR"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50~100kg</a:t>
            </a:r>
          </a:p>
          <a:p>
            <a:pPr marL="18" indent="-10">
              <a:lnSpc>
                <a:spcPct val="114000"/>
              </a:lnSpc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초록입홍합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동결건조 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650 RMB/kg 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ko-KR" altLang="en-US" sz="11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</a:t>
            </a:r>
            <a:r>
              <a:rPr lang="en-US" altLang="ko-KR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136,500</a:t>
            </a:r>
            <a:r>
              <a:rPr lang="ko-KR" altLang="en-US" sz="11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 </a:t>
            </a:r>
            <a:r>
              <a:rPr lang="en-US" altLang="ko-KR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50~100kg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1B401B3-3C6E-460F-BA47-A7F7F7944D2C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2E39708-DC10-4B0D-9256-B2F4ED5C6395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C41A2F-4662-42DF-A018-C3A9F7BD3F2E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캔·동결건조·저키·해산물까지 검토 가능한 종합 후보입니다. 다만 애묘캔 품질과 대용량 캔 규격은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87070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8B2E96DB-CE51-494F-913A-F02DDEC71B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Ningbo Today Food Co., Ltd.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AE1DF3-94A6-4D71-B55A-73E24EA9BE8E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펫 캔은 이 업체를 1순위로 볼 만합니다. 참치·수산물 캔 기반의 공장 규모와 해외 수출 이력이 강하고, 85g·170g·400g 가격 구조가 비교적 명확합니다.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CA2543-2A3C-498C-8677-EFF6B116E08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115DCC-D47A-42C4-A284-705CA842C978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A36A59-095D-46FE-ABE3-7F0876483DF7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00F2AC-A55C-42AE-A035-57A05019B151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캔 1순위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8B034B-7821-4B8E-99FB-480EC074E432}"/>
              </a:ext>
            </a:extLst>
          </p:cNvPr>
          <p:cNvSpPr>
            <a:spLocks noGrp="1"/>
          </p:cNvSpPr>
          <p:nvPr/>
        </p:nvSpPr>
        <p:spPr>
          <a:xfrm>
            <a:off x="18288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157870-B12F-42CC-8F16-7AF50AE9617A}"/>
              </a:ext>
            </a:extLst>
          </p:cNvPr>
          <p:cNvSpPr>
            <a:spLocks noGrp="1"/>
          </p:cNvSpPr>
          <p:nvPr/>
        </p:nvSpPr>
        <p:spPr>
          <a:xfrm>
            <a:off x="19240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B2B8D4-934E-4A34-B6AE-2EC24E8CC203}"/>
              </a:ext>
            </a:extLst>
          </p:cNvPr>
          <p:cNvSpPr>
            <a:spLocks noGrp="1"/>
          </p:cNvSpPr>
          <p:nvPr/>
        </p:nvSpPr>
        <p:spPr>
          <a:xfrm>
            <a:off x="30099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3C7082-2BB7-4AA4-86BB-4512A976A99A}"/>
              </a:ext>
            </a:extLst>
          </p:cNvPr>
          <p:cNvSpPr>
            <a:spLocks noGrp="1"/>
          </p:cNvSpPr>
          <p:nvPr/>
        </p:nvSpPr>
        <p:spPr>
          <a:xfrm>
            <a:off x="31051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1402B2-81E8-4548-A333-DA00BA29689C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0C193A-E345-4930-96D4-32401E23678F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Food 브로슈어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40A4BD-5DF9-4B49-8166-4B8ED069B64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KakaoTalk_20260820_215007504_04.jpg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4179946-C52C-4CB4-8510-641AE5D71CD7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4556" y="1619250"/>
            <a:ext cx="1157288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65AFB3-64FE-423C-8C17-4F270BDE373C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87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Food 170g 캔 샘플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BE934A-1976-4799-8043-76B4155ACB59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KakaoTalk_20260824_125637502_01.jpg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FFD3F6-DA65-4907-A4BB-4F384F098BC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D11E192-32F8-4C59-86E9-18EE03D9B738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CBC1BA-332C-4C5F-BD96-6104FC8A10C7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1671CB-8680-4D75-9CE2-6EE6F19F6F4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Ltd. / 宁波今日食品有限公司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208839C-0DE0-4236-A778-91CE57EB8EC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3C73AE-6CB3-4E23-8492-6FFCA2595109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F3CA1C-5077-4965-B1AA-2A09CF3B8E1D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No. 38, Zhongxing East Road,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Xikou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Fenghua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Ningbo, China.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0FE047F-C326-428B-8102-C37C9CA35C75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67D792-0890-4591-A0C6-D3D88EEA4DB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3CBCC9-DE3B-4E2F-89F5-9098679497DC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http://www.todayfood.com.cn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47D2BF-4532-4BCB-987C-2A69B9D8053B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3EB7E1-1209-4DA0-8759-7EEEDBAC5A8D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86C41C-4947-49AA-8AA2-A6F137412EAF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17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일본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일반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확인되나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한국향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펫푸드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서류는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F472F15-EF20-47A8-8DA2-83B54DF56A12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0A2E76-2A20-473E-814D-435CC926F8AA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FF5271-4467-4CB5-B86E-72E221818B60}"/>
              </a:ext>
            </a:extLst>
          </p:cNvPr>
          <p:cNvSpPr>
            <a:spLocks noGrp="1"/>
          </p:cNvSpPr>
          <p:nvPr/>
        </p:nvSpPr>
        <p:spPr>
          <a:xfrm>
            <a:off x="1714500" y="355282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90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 캔 85g·170g·400g. 참치/수산물 베이스 캔. 샘플 기준 170g 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참치+닭가슴살, 170g 참치 레드미트 계열 확인.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A2D8F4F-DA08-4122-95E3-03BED90A741A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8507BD-D138-4FAF-85A4-ECE4EE4209B6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674070C-9697-43DA-8597-58AC6ED44B15}"/>
              </a:ext>
            </a:extLst>
          </p:cNvPr>
          <p:cNvSpPr>
            <a:spLocks noGrp="1"/>
          </p:cNvSpPr>
          <p:nvPr/>
        </p:nvSpPr>
        <p:spPr>
          <a:xfrm>
            <a:off x="1714500" y="3905539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자료상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대형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가공·수출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펫푸드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제품군과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규격을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보유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br>
              <a:rPr lang="en-US"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</a:b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170g 캔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샘플이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확인되어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SKU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검토에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EE7C99-AB4A-47DD-B7DB-E7F3701ECE0B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677BC6B-6D09-449C-AD97-CDF1F7856F6E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489FA0-EC11-45F7-AB6C-30A3F6B32320}"/>
              </a:ext>
            </a:extLst>
          </p:cNvPr>
          <p:cNvSpPr>
            <a:spLocks noGrp="1"/>
          </p:cNvSpPr>
          <p:nvPr/>
        </p:nvSpPr>
        <p:spPr>
          <a:xfrm>
            <a:off x="866775" y="4900468"/>
            <a:ext cx="6000750" cy="9432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85g: 2 RMB/개 · 약 420원/개 / MOQ 20,000개 · 약 8,400,000원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170g: 2.4 RMB/개 · 약 504원/개 / MOQ 20,000개 · 약 10,080,000원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400g: 4.5 RMB/개 · 약 945원/개 / MOQ 20,000개 · 약 18,900,000원</a:t>
            </a:r>
            <a:endParaRPr lang="en-US"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화이트미트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</a:t>
            </a: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85g: 4.5 RMB/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약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945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 MOQ 20,000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18,900,000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F9548DD-8A4D-4017-97F7-341751EF4165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03FEE0-E017-4866-A36B-14BFDBA4C3BF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681C62-BC0C-42CA-928D-AB200F70E637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고양이 캔 일본 수출 경험이 있어 수출 대응력은 비교적 양호합니다. 제품 품질은 우수하나, 중국산 원산지의 국내 수용성 검토가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28964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E4F949-1644-4BF7-A23B-2FC0D8A0D6D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B3B536-8D63-4806-AD78-A8582E57ABEB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난황·닭가슴살+캣닢·열빙어 등 소용량 간식 후보입니다. 단가 경쟁력은 있으나 한국 수출 이력과 서류 대응 범위 확인이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9D33E1-9024-4CB7-B017-C822C1BE7AE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B4DD3D-7EF9-4132-BA3C-1A7AEDC2794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6A7073-47A5-4405-A0DF-F19FA615215D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5B23A9-A886-41F5-BF54-CD140ACD8AEA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간식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D1D9A9-3A6B-4C89-BE58-B7D75BF82A9F}"/>
              </a:ext>
            </a:extLst>
          </p:cNvPr>
          <p:cNvSpPr>
            <a:spLocks noGrp="1"/>
          </p:cNvSpPr>
          <p:nvPr/>
        </p:nvSpPr>
        <p:spPr>
          <a:xfrm>
            <a:off x="1943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09A25C-C4DA-46D3-8341-2965570ED6E2}"/>
              </a:ext>
            </a:extLst>
          </p:cNvPr>
          <p:cNvSpPr>
            <a:spLocks noGrp="1"/>
          </p:cNvSpPr>
          <p:nvPr/>
        </p:nvSpPr>
        <p:spPr>
          <a:xfrm>
            <a:off x="2038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7D534FD-FC30-4891-95B3-F4F8EB1A91F5}"/>
              </a:ext>
            </a:extLst>
          </p:cNvPr>
          <p:cNvSpPr>
            <a:spLocks noGrp="1"/>
          </p:cNvSpPr>
          <p:nvPr/>
        </p:nvSpPr>
        <p:spPr>
          <a:xfrm>
            <a:off x="3124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73C9F4-CC0D-4D50-863D-635C4B4299BE}"/>
              </a:ext>
            </a:extLst>
          </p:cNvPr>
          <p:cNvSpPr>
            <a:spLocks noGrp="1"/>
          </p:cNvSpPr>
          <p:nvPr/>
        </p:nvSpPr>
        <p:spPr>
          <a:xfrm>
            <a:off x="3219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27327E-5466-4D8C-B2E7-56026ACDC938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266"/>
            <a:ext cx="1714500" cy="965019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35287C-9CCE-4A8F-8F1C-8603CFC3ECFE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PETO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7AFC4E-DB7C-4BB6-924F-A8F0E9200EF0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KakaoTalk_20260824_095058851_08.jpg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6A16B3-F59B-49C6-A8D4-48209A7F56D4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908266"/>
            <a:ext cx="1714500" cy="965019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637DC4-1217-480F-934E-5ECBCDB7D408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PETO 제품·인증 전시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CE80CF-3DAF-4B9B-B54E-3F6EEAF222E4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KakaoTalk_20260824_095058851_07.jpg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417BEC-DAE1-49E7-A6DE-A1571B6ADD91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CAA63C8-3484-4E79-9A45-5B683CC5D6A1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EB9612-6F5B-4CB5-8720-8112D0E3A193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74BA3D-2714-4091-8CD9-99CB16152BBF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3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 Co., Ltd. / PETO Zheng Run Biotech(正润生物)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710B9F0-DCA8-48BD-A6F8-D40DDE3EC395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D085C8-28AA-4A90-B8A8-C2518110524B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240684-E5E9-490D-88EE-2280AB10CDA6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95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No.208 Jinzhou Avenue West, Ningxiang High-tech Industrial Park, Changsha City, Hunan Pro...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74B5D9-819A-4317-BCC6-B38657F2158F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777DD9-E35E-429B-96C5-9CD9FF55B0A5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967F1F-A5A4-493C-A3BA-1FE21FFD7218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7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https://online.petfairasia.com/en/showroom-2026/institutions/bbecbe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DB945DF-B1D9-4D5E-986D-4D6D7DD159CA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55045-7568-41BA-AC20-FBC738F36359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E82DAF-EF21-4F8F-8590-C020958D40B2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글로벌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브랜드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서비스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제공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대응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범위는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AA73DEA-5E5A-413C-8EEB-7E227AE2773A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993A75-D41C-440E-B568-D21D88470626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CC44BD-C3AA-4925-91E7-884D04314224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계란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기능성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큐브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베이크류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C80D256-3889-47DD-B5CF-6FC0C714F17B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6AE71A5-312D-4A46-8172-04B9C2DF02EA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56ADC0-CA29-4076-82A9-98C2BE0E9E26}"/>
              </a:ext>
            </a:extLst>
          </p:cNvPr>
          <p:cNvSpPr>
            <a:spLocks noGrp="1"/>
          </p:cNvSpPr>
          <p:nvPr/>
        </p:nvSpPr>
        <p:spPr>
          <a:xfrm>
            <a:off x="1714500" y="3933825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BRC·IFS·ISO9001·ISO22000(HACCP)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표기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endParaRPr lang="en-US" sz="4000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기능성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큐브형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샘플이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많아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SKU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검토에</a:t>
            </a:r>
            <a:r>
              <a:rPr sz="4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A4F2F4-B734-43F9-955A-4666AF2C545C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1D9CD06-113F-42EA-9EB6-C05D2594F7FE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0E24EE2-D681-447C-9D37-F4A6FA6E85E1}"/>
              </a:ext>
            </a:extLst>
          </p:cNvPr>
          <p:cNvSpPr>
            <a:spLocks noGrp="1"/>
          </p:cNvSpPr>
          <p:nvPr/>
        </p:nvSpPr>
        <p:spPr>
          <a:xfrm>
            <a:off x="866775" y="4933950"/>
            <a:ext cx="600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75 RMB/kg · 약 15,750원/kg · MOQ 100~200kg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계란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60 RMB/kg · 약 12,600원/kg · MOQ 200kg</a:t>
            </a:r>
          </a:p>
          <a:p>
            <a:pPr marL="18" indent="-10">
              <a:lnSpc>
                <a:spcPct val="114000"/>
              </a:lnSpc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수컷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90 RMB/kg · 약 18,900원/kg · MOQ 100kg</a:t>
            </a:r>
            <a:b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</a:t>
            </a: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암컷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): 220 RMB/kg · 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46,200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/kg · MOQ 200kg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32B433F-C502-44EA-B615-A3C0D4045036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4F58D9A-A31C-4FE6-A033-335BFB419A51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8AFB510-890D-479A-9485-52370042E5E5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125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7FF834-F8E8-C4BD-CBAF-8D128C6B314E}"/>
              </a:ext>
            </a:extLst>
          </p:cNvPr>
          <p:cNvSpPr>
            <a:spLocks noGrp="1"/>
          </p:cNvSpPr>
          <p:nvPr/>
        </p:nvSpPr>
        <p:spPr>
          <a:xfrm>
            <a:off x="7600950" y="44005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가격 경쟁력이 있는 간식 후보입니다. 다만 신규 공장/한국향 대응 이력은 서류 기준으로 재확인이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6796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39ABF29C-3DF7-402A-AEE6-B30BAFF03AF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A27F88-264D-4BCC-A865-353E212B9A3C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난황·닭가슴살·캣닢 토핑 등 제형 폭이 넓어 소용량 SKU 우선 후보로 볼 수 있습니다. 포장비 제외 기준이므로 완제품 원가 재계산이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527BA12-2666-4110-81A6-5D9E99BC6F1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D53DE3-DDC7-451F-8479-0858A286CCE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2F3511-C693-4563-8E41-9BEC1130104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5A1B3C-F1B0-4D05-AEB0-E03A62BFE626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간식 1순위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F6CC27-6809-451A-ADD7-06B651BF2D5F}"/>
              </a:ext>
            </a:extLst>
          </p:cNvPr>
          <p:cNvSpPr>
            <a:spLocks noGrp="1"/>
          </p:cNvSpPr>
          <p:nvPr/>
        </p:nvSpPr>
        <p:spPr>
          <a:xfrm>
            <a:off x="22860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188E96-63EA-4056-A21B-8B67E53F9700}"/>
              </a:ext>
            </a:extLst>
          </p:cNvPr>
          <p:cNvSpPr>
            <a:spLocks noGrp="1"/>
          </p:cNvSpPr>
          <p:nvPr/>
        </p:nvSpPr>
        <p:spPr>
          <a:xfrm>
            <a:off x="23812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17D13D-91F9-4DD1-B031-E3346171538F}"/>
              </a:ext>
            </a:extLst>
          </p:cNvPr>
          <p:cNvSpPr>
            <a:spLocks noGrp="1"/>
          </p:cNvSpPr>
          <p:nvPr/>
        </p:nvSpPr>
        <p:spPr>
          <a:xfrm>
            <a:off x="3467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38AF1D-F0C8-4316-A4F7-3010A8CBDCFF}"/>
              </a:ext>
            </a:extLst>
          </p:cNvPr>
          <p:cNvSpPr>
            <a:spLocks noGrp="1"/>
          </p:cNvSpPr>
          <p:nvPr/>
        </p:nvSpPr>
        <p:spPr>
          <a:xfrm>
            <a:off x="3562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B0A65E-79C8-44A0-9434-EBE35595B3FC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D7D7E9-C4A4-4D8D-A7F1-78320FE71A96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A21012-C604-4BA0-A48F-076DA38939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KakaoTalk_20260824_094951699.jpg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998A09-AD11-47F1-AE40-D82C5E902FD7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29331" y="1619250"/>
            <a:ext cx="867739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33F52A-B25A-45FC-80A0-AABEF96BDB81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 제품 전시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D94B56-2330-4048-9285-F161745EC1F0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KakaoTalk_20260824_094951699_01.jpg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EBE05A-1C17-4013-B9EB-49207235CB9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AD655E-F62B-40CD-A59D-C0DF4581C08D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929E3B-0116-461E-A07F-28BC9B4514B0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B51B53-3A3E-4577-AA0A-F217B6FA5BD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Beijing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Yekafan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Trading Co., Ltd.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8139F9-5038-43E2-ADE7-41B5679227F8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0CAC8-D9FC-4884-9884-54B8FFB81944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F21B08-6F58-4E6C-988A-DD657DC9F8DB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Beijing, Beijing, China Mainland. 부스: N2 / N2L01.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DE4D5CD-55A4-45C8-B33D-5AC04466C23B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FF6839-D0D7-4339-A964-7E490D76C91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74978C-5610-48C3-B317-43FFCDB0B2E0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https://online.petfairasia.com/en/showroom-2026/institutions/712cdd8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087594B-6916-40D7-A622-7AE7DE31E9F4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B21FB0-D4FB-49B3-880F-DB5B2C6A15E7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06EB9C-57FD-4C3E-9C57-51CF9DE392C4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8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 수출 이력 다수 확인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0BB278E-1798-4677-BCFE-D3E1BB111ECC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D1DE34-CDDD-4FB8-B429-8B052F1285DF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986CDA0-2B05-4515-82D1-ACE5C89AA962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난황, 닭가슴살, 닭가슴살+캣닢, 동결건조 딸기 10g, 캣닢 내장형 토핑.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F35F747-3D24-4D38-8305-915C3C40A0D9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BC87D7-4C67-41E6-B968-DFD1AF07AD47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60CAE0-1FF4-4E25-87E0-871A4036CC9E}"/>
              </a:ext>
            </a:extLst>
          </p:cNvPr>
          <p:cNvSpPr>
            <a:spLocks noGrp="1"/>
          </p:cNvSpPr>
          <p:nvPr/>
        </p:nvSpPr>
        <p:spPr>
          <a:xfrm>
            <a:off x="1714500" y="3914774"/>
            <a:ext cx="523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난황·닭가슴살·캣닢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내장형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다양한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제형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보유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endParaRPr lang="en-US" sz="1000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단가도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다이소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사은품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SKU에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459EB2-D62D-41B7-AC73-0EE213DC57B5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24DBBE4-C6A3-42AB-8834-8073DC06CA8D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A0F3B7-30C6-4D84-ACBB-42882CD368CA}"/>
              </a:ext>
            </a:extLst>
          </p:cNvPr>
          <p:cNvSpPr>
            <a:spLocks noGrp="1"/>
          </p:cNvSpPr>
          <p:nvPr/>
        </p:nvSpPr>
        <p:spPr>
          <a:xfrm>
            <a:off x="866775" y="4933950"/>
            <a:ext cx="600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5223"/>
          </a:bodyPr>
          <a:lstStyle/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60 RMB/kg · 약 12,600원/kg · MOQ 200~300kg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60 RMB/kg · 약 12,600원/kg · MOQ </a:t>
            </a:r>
            <a: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200~300kg</a:t>
            </a:r>
            <a:b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</a:b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62 RMB/kg · 약 13,020원/kg · MOQ 200~300kg</a:t>
            </a:r>
            <a:b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딸기 동결건조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10g 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위안</a:t>
            </a:r>
            <a:endParaRPr lang="en-US"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B0F6D01-3D53-4A2C-9400-719FE6DA9018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743CB6C-FF68-494C-9D41-83D3386DDAD9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 수출 경험이 확인되고 캔을 제외한 간식류 대응 폭이 넓습니다. 포장비, 완제품 규격, 라벨 작업 가능 여부를 우선 확인해야 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DDD52C-733A-F0BC-3536-A99A666EC6DB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</p:spTree>
    <p:extLst>
      <p:ext uri="{BB962C8B-B14F-4D97-AF65-F5344CB8AC3E}">
        <p14:creationId xmlns:p14="http://schemas.microsoft.com/office/powerpoint/2010/main" val="177754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207E6323-0F7E-448A-92EA-7E8E1041A3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ELF FISH / JiLan Biotechnology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4F5320-E0E6-4049-A43D-BCB5461BA523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해산물 동결건조 원물 후보입니다. 수출 경험과 원물 라인업은 장점이나 일부 품목은 단가가 높아 대용량 SKU에는 선별 적용이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00A9B65-2F95-4C7D-B241-B8419D752C1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18644-4D75-4C36-A7E6-3F969AE2EB22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3AEB1C-2AF8-4283-9245-E7D9C610258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DA7DDF-A99C-4FE4-8F29-64E402B0E1C0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해산물 원물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3F4C913-307C-47FC-ABE4-689A300BF26D}"/>
              </a:ext>
            </a:extLst>
          </p:cNvPr>
          <p:cNvSpPr>
            <a:spLocks noGrp="1"/>
          </p:cNvSpPr>
          <p:nvPr/>
        </p:nvSpPr>
        <p:spPr>
          <a:xfrm>
            <a:off x="22860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574A1C-0AFB-4971-9822-C7959A5E896A}"/>
              </a:ext>
            </a:extLst>
          </p:cNvPr>
          <p:cNvSpPr>
            <a:spLocks noGrp="1"/>
          </p:cNvSpPr>
          <p:nvPr/>
        </p:nvSpPr>
        <p:spPr>
          <a:xfrm>
            <a:off x="23812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7CE1698-032B-4142-8953-45ADDB375941}"/>
              </a:ext>
            </a:extLst>
          </p:cNvPr>
          <p:cNvSpPr>
            <a:spLocks noGrp="1"/>
          </p:cNvSpPr>
          <p:nvPr/>
        </p:nvSpPr>
        <p:spPr>
          <a:xfrm>
            <a:off x="3467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407315-9DFD-45C2-8DDF-CA498CDA03F5}"/>
              </a:ext>
            </a:extLst>
          </p:cNvPr>
          <p:cNvSpPr>
            <a:spLocks noGrp="1"/>
          </p:cNvSpPr>
          <p:nvPr/>
        </p:nvSpPr>
        <p:spPr>
          <a:xfrm>
            <a:off x="3562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FBE9131-425E-48E5-B1D1-0D9A726F4FA0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7B4A72-1C4F-48C7-A14C-14382CC61310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ELF FISH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44EBF1-5D96-4669-BCE0-04D87C3099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KakaoTalk_20260824_101508142.png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43893F5-C8E2-418F-A08B-D455B97DEA81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1D52E3-E598-47E4-BEFE-D9A96C3FB7AA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ELF FISH 상담 부스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5E98A6-7FE6-4BF3-A48A-126A366E486B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KakaoTalk_20260824_101721295.png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2162EA-59CC-4875-AFBB-804ADC5E6108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ABBBA00-37EF-4A86-82DE-9B46B669939E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F86526-FCA1-4469-9D53-CE67C62562D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4971AA-8FE1-49DA-BBB6-60EA00F31F76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JiLan Biotechnology (Qingdao) Co., Ltd. / ELF FISH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023C167-5CEC-4BBD-91FC-C0C9DCBF9621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EB8B33C-5F1F-4B37-9F15-E3DF35B2FC55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67513C-669C-473D-B242-99A81B7F64CD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Qingdao, Shandong, China Mainland.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E2FA9F6-A17B-4092-B0E6-5242B0896409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F18BEA-C004-4409-813A-66EEC348123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F76EAC-2447-401F-8580-B528D5081CA9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https://online.petfairasia.com/en/showroom-2026/institutions/0d0e9l8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5856C6-E0D6-4BF1-896A-21E5BA245172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4DFAD5-37C5-46D6-92F7-4A5526051FD9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DC4985-836C-4B55-B8E8-00A40313172D}"/>
              </a:ext>
            </a:extLst>
          </p:cNvPr>
          <p:cNvSpPr>
            <a:spLocks noGrp="1"/>
          </p:cNvSpPr>
          <p:nvPr/>
        </p:nvSpPr>
        <p:spPr>
          <a:xfrm>
            <a:off x="1714500" y="320992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6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있음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페이지는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약 30년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수출입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endParaRPr sz="1000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CEC564-AA3D-4EA3-AF49-517DE4B7ABA8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2CF38B-ECCB-44B0-869F-64DDAAE3E5FC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2B69CC-9D5F-414E-85BB-43B0FB61B214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A17A9C-8236-454A-9236-6719FE59B822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9B9631-F29C-476C-B059-EEBCAE1CECC4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F3A771-3DB4-4669-877F-0FEC5474FEC0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해산물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원물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라인업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폭이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넓고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수출입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기반을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보유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새우·관자·가리비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원물형은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900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검토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9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9F57ED-DC3D-4B8E-97C0-DA94D73C5BF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DC9655E-9753-48A9-A0F3-8FD7304B804C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6C2586F-22CA-4BE4-9D95-906AEE902875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100 RMB/kg · 약 21,000원/kg · MOQ 50kg</a:t>
            </a: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75 RMB/kg · 약 15,750원/kg · MOQ </a:t>
            </a:r>
            <a:r>
              <a:rPr 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100kg</a:t>
            </a: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0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800 RMB/kg · 약 168,000원/kg · 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샘플</a:t>
            </a:r>
            <a:r>
              <a:rPr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검토용</a:t>
            </a:r>
            <a:endParaRPr sz="105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8AB5266-60B7-4181-9E7B-B512EC2438A7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03D794-497E-4608-A737-DB75375C117B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해산물 원물 라인업은 차별화 요소입니다. 다만 새우 등 고가 품목은 대용량보다 프리미엄/샘플 SKU 중심 검토가 적합합니다.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6B0A9A-F815-68B9-9FDF-6BB1AE473902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</p:spTree>
    <p:extLst>
      <p:ext uri="{BB962C8B-B14F-4D97-AF65-F5344CB8AC3E}">
        <p14:creationId xmlns:p14="http://schemas.microsoft.com/office/powerpoint/2010/main" val="210229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E6562B-5499-4212-AF2B-C7747EF4219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NakiPet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D9CB9F-E07A-4ED0-ADD4-A42DCF36B87D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제품 완성도는 양호하지만 가격 경쟁력이 약한 후보입니다. 대량 가성비 SKU보다는 프리미엄/특수 원물 샘플 확인용으로 유지합니다.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B7D7717-CC06-4D4C-99C0-E5053BC9D55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0FCAE0-2FC7-457D-A11F-069E58AF8370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98D5653-74F1-46A8-96C6-F79FA036D3AE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A0A3A-7C8C-4A7F-BFE4-A556AE055DF9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보류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37E8034-6FA0-4B31-8562-42E16C9B5C69}"/>
              </a:ext>
            </a:extLst>
          </p:cNvPr>
          <p:cNvSpPr>
            <a:spLocks noGrp="1"/>
          </p:cNvSpPr>
          <p:nvPr/>
        </p:nvSpPr>
        <p:spPr>
          <a:xfrm>
            <a:off x="18288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C12952-24CF-4221-B736-2B867FFD26FF}"/>
              </a:ext>
            </a:extLst>
          </p:cNvPr>
          <p:cNvSpPr>
            <a:spLocks noGrp="1"/>
          </p:cNvSpPr>
          <p:nvPr/>
        </p:nvSpPr>
        <p:spPr>
          <a:xfrm>
            <a:off x="19240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83FA53C-09C5-477B-9020-033F8ED67708}"/>
              </a:ext>
            </a:extLst>
          </p:cNvPr>
          <p:cNvSpPr>
            <a:spLocks noGrp="1"/>
          </p:cNvSpPr>
          <p:nvPr/>
        </p:nvSpPr>
        <p:spPr>
          <a:xfrm>
            <a:off x="30099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1803CD-F813-42D2-88F5-96916EDAE772}"/>
              </a:ext>
            </a:extLst>
          </p:cNvPr>
          <p:cNvSpPr>
            <a:spLocks noGrp="1"/>
          </p:cNvSpPr>
          <p:nvPr/>
        </p:nvSpPr>
        <p:spPr>
          <a:xfrm>
            <a:off x="31051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383A46-4C4B-496E-92F2-7E5F7BB95EBD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7AB80D-7580-45AB-83A7-AEEB31B5EA74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FE6CD6-2090-4972-828B-A253D64DE71E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KakaoTalk_20260824_095300234.jpg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0A7C9C-784C-48AB-A14C-D56348731D9A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91675" y="1619250"/>
            <a:ext cx="1543050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964364-8CCE-4A95-957A-3AF5442D6CF9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979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 동결건조 관자 제품 이미지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742476-3C26-4755-9F54-D30486C706B5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KakaoTalk_20260824_095300234_02.jpg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977174-4AC8-43BE-8EA3-C2BC3EF1E4F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4B35492-ECDF-4C7F-B422-63F3DC63E21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09C1A0-0902-41CB-BEAE-66302B3F438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683E1C-0DB0-4ED4-AFA3-7D05F568616D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NakiPet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/ Hunting Island. GUANGDONG PEITEE FOOD TECHNOLOGY CO., LTD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04949BF-0F4D-4D8D-8E77-4AC7436EE20A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294369-045C-40DB-B93E-7A39E875FC94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9DA1D0-3C7C-4E32-A98A-C36A8FAE730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Shantou, Guangdong, China Mainland. 부스: W4 / W4M71, N2 / N2N71.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7695D4A-EF27-4738-83B6-D5F402F84EED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BDC1D9-8E9E-4147-9AF6-4415B4F6EDA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84A241-F27E-4B09-B174-1D909009E05D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https://online.petfairasia.com/en/showroom-2026/institutions/95cffm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397F630-67F9-486B-83EB-074DBFE7FA9C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C06BBE-15B9-4DFE-8523-AB3F587C41B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9BA0B7-8240-4B83-8BDA-9198C2520DD6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미국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있음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F0E3436-716E-48F7-8A3D-EF955D35EFC5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2826A7-5F51-459F-9F74-320CDF04637D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3F59B0-0440-4244-9A17-051731154425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콜라겐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덴탈츄류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FAC1D7A-45D8-4D9B-AECC-8CFDC7DF9FFE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181C1E-5A20-4669-AD3E-1D8601140F65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513042-4F71-4D60-89B0-68B753C0106F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제품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퀄리티와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패키지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완성도는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양호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NakiPet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Hunting Island 등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브랜드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E1F2A93-3B98-4D16-8C2A-B46331C8A5C7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DFBEBED-8856-457B-B991-74C00AD288D7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E871A11-73EC-481B-BF14-D9F04F0E5F77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새우: 500 RMB/kg · 약 105,000원/kg / MOQ 500kg · 약 52,500,000원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4426F0F-FA51-415A-A324-FD6032031B2D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1EE15C-3DD8-47A4-811C-F087168DC188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품질과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패키지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완성도는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우수합니다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다만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단가가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높아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쿠팡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다이소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대량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SKU보다는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참고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후보로</a:t>
            </a:r>
            <a:r>
              <a:rPr 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적합합니다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CF47F-4E3D-9A01-7501-B9EDD212FA17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</p:spTree>
    <p:extLst>
      <p:ext uri="{BB962C8B-B14F-4D97-AF65-F5344CB8AC3E}">
        <p14:creationId xmlns:p14="http://schemas.microsoft.com/office/powerpoint/2010/main" val="102171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28EF3E-CA82-4517-866A-B0C2BCDA133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Jiangxi Haci / Medellin Pet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3A8953-871C-43B4-B3EE-FB67559ECD02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726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업체 규모와 한국향 대응 기준이 불확실해 단기 우선순위는 낮습니다. 구강/껌류 참고 후보로만 관리합니다.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9FE337-12B5-403E-A15A-0F3EBA17AE7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7F58B8-2EAA-473A-A5B5-FA912C0D7089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8684DD1-825A-4F92-9D97-CE871B6F6AA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B237B3-7862-4088-844D-CB263EBAC71A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후순위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55EA9D-FE74-471C-8571-C80E0F22D580}"/>
              </a:ext>
            </a:extLst>
          </p:cNvPr>
          <p:cNvSpPr>
            <a:spLocks noGrp="1"/>
          </p:cNvSpPr>
          <p:nvPr/>
        </p:nvSpPr>
        <p:spPr>
          <a:xfrm>
            <a:off x="1600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23AE5A-1197-44ED-9FA8-E7FBB2D431E5}"/>
              </a:ext>
            </a:extLst>
          </p:cNvPr>
          <p:cNvSpPr>
            <a:spLocks noGrp="1"/>
          </p:cNvSpPr>
          <p:nvPr/>
        </p:nvSpPr>
        <p:spPr>
          <a:xfrm>
            <a:off x="1695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 업체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23927D-39D0-4658-B4B4-9E4A64920330}"/>
              </a:ext>
            </a:extLst>
          </p:cNvPr>
          <p:cNvSpPr>
            <a:spLocks noGrp="1"/>
          </p:cNvSpPr>
          <p:nvPr/>
        </p:nvSpPr>
        <p:spPr>
          <a:xfrm>
            <a:off x="27813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3F2528-936E-40A8-9347-CCD794FA7DFC}"/>
              </a:ext>
            </a:extLst>
          </p:cNvPr>
          <p:cNvSpPr>
            <a:spLocks noGrp="1"/>
          </p:cNvSpPr>
          <p:nvPr/>
        </p:nvSpPr>
        <p:spPr>
          <a:xfrm>
            <a:off x="28765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3D8F46-42DE-48D0-BACC-12D623002547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9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37135" y="1619250"/>
            <a:ext cx="1156380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AA5E99-D31A-459E-8FB7-CBCA3F922AD3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496" lnSpcReduction="10000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Jiangxi Haci / Mai De Chong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290FF5-CEAE-4A1C-8F2C-1BB0679188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Jiangxi Haci Medellin Pet.jpg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EF2FFE-77CE-4F1A-8678-4A4FF958314D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3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4102" y="1619250"/>
            <a:ext cx="1158195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D9367-AE47-4977-85C3-9287E8366CB0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Jiangxi Haci 제품 전시 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8F63D3-40B8-4D35-B3D6-F6B344540F44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Jiangxi Haci Medellin Pet 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0CB355-2CB3-4E41-871C-E67ABF1DAAF2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21A8FE5-6550-4B28-B6B6-363448A8C841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75E3C8-696D-45CD-B32D-0DEDE374BA39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2B4CBB-CEF5-4994-B722-08BBC62ED27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5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Jiangxi Haci/Harts </a:t>
            </a:r>
            <a:r>
              <a:rPr sz="12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Pet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Products Co., Ltd. / Medellin Pet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479143C-6365-4FBC-AC69-FB153D901ADE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CA9E2E-166E-48AE-8ED9-FCCAB71B1D61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A37468-009D-4D57-AAEE-FBC29A94D646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Pingxiang, Jiangxi, China Mainland.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A07C31A-B638-483B-99F1-C55173C3A817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7C4780-0D0B-42E8-B8D6-574B838A0D43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C74500-D02E-4AE4-940B-611074B2CCCB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9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https://online.petfairasia.com/en/showroom-2026/institutions/9c1eg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8FC3B83-62F5-4027-A0C7-7EF7DE49D6A9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77732E-AFEA-47C0-A254-A2375BB2947E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B096F6D-D79D-4F35-A3FC-8235C72096F0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5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벨기에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인도네시아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동남아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D9BDD7F-935F-49A8-8D44-2AC081E3521B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54D3A60-73AD-4983-8536-79B4DDC57A59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8FC93A6-E945-4D05-88E4-7225F0BEBF57}"/>
              </a:ext>
            </a:extLst>
          </p:cNvPr>
          <p:cNvSpPr>
            <a:spLocks noGrp="1"/>
          </p:cNvSpPr>
          <p:nvPr/>
        </p:nvSpPr>
        <p:spPr>
          <a:xfrm>
            <a:off x="1714500" y="3571875"/>
            <a:ext cx="523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5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껌류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구강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난황+오리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대두단백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랩핑</a:t>
            </a:r>
            <a:r>
              <a:rPr sz="11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000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C093BC0-A947-4E5A-9740-C58DCA9B0961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685E7A-02C6-45B9-A33B-620FCCD40C59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DF94D2-6124-4BA7-8006-66563C46A4E1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5AE39A6-3F6B-4A61-83B9-38AC53B9D311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B716810-CFDB-4742-8319-6123D81B9179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대두단백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랩핑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52 RMB/kg · 약 10,920원/kg / MOQ 300kg · 약 3,276,000원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206E6B-2A22-45FA-AB86-226F9D808A58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442204-828E-4DE1-8037-599F0EFFEABD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상담은 우호적이었으나 회사 규모와 한국 수출 경험을 고려하면 단기 진행 우선순위는 낮습니다.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977F49-4091-798F-85F4-F73AAC1E657F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/ 리스크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E869B0-533E-A818-970F-3FCAA7C89A2E}"/>
              </a:ext>
            </a:extLst>
          </p:cNvPr>
          <p:cNvSpPr>
            <a:spLocks noGrp="1"/>
          </p:cNvSpPr>
          <p:nvPr/>
        </p:nvSpPr>
        <p:spPr>
          <a:xfrm>
            <a:off x="1695450" y="3970770"/>
            <a:ext cx="5686425" cy="1079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50"/>
          </a:bodyPr>
          <a:lstStyle/>
          <a:p>
            <a:pPr>
              <a:lnSpc>
                <a:spcPct val="115000"/>
              </a:lnSpc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OEM/ODM </a:t>
            </a:r>
            <a:r>
              <a:rPr lang="ko-KR" altLang="en-US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lang="en-US" altLang="ko-KR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자동화 생산라인과 자체 </a:t>
            </a:r>
            <a:r>
              <a:rPr lang="en-US" altLang="ko-KR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QC </a:t>
            </a:r>
            <a:r>
              <a:rPr lang="ko-KR" altLang="en-US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실험실 보유</a:t>
            </a:r>
          </a:p>
        </p:txBody>
      </p:sp>
    </p:spTree>
    <p:extLst>
      <p:ext uri="{BB962C8B-B14F-4D97-AF65-F5344CB8AC3E}">
        <p14:creationId xmlns:p14="http://schemas.microsoft.com/office/powerpoint/2010/main" val="170605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D2787D-1B72-4F52-9DB9-B0A7CD37D67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견적은 정식 견적서 기준으로 재확인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58E51B-ADBC-4997-9104-6F50963431F5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RMB 환산가는 비교용입니다. 포장비, MOQ, 수출서류, 납품조건을 동일 기준으로 재확인해야 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23A72B-CF05-4C35-BC53-C6D18690FAB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338070-7808-4B5E-B9DF-E3D5B6418BC4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1DAEE8-DFBF-46F5-B9D4-827ED8E5C3F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19075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089131-509D-4C01-A843-E7FCFCD17D22}"/>
              </a:ext>
            </a:extLst>
          </p:cNvPr>
          <p:cNvSpPr>
            <a:spLocks noGrp="1"/>
          </p:cNvSpPr>
          <p:nvPr/>
        </p:nvSpPr>
        <p:spPr>
          <a:xfrm>
            <a:off x="781050" y="159067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00B1AF-D7FA-43B8-A4A8-D4EB6B35EDB0}"/>
              </a:ext>
            </a:extLst>
          </p:cNvPr>
          <p:cNvSpPr>
            <a:spLocks noGrp="1"/>
          </p:cNvSpPr>
          <p:nvPr/>
        </p:nvSpPr>
        <p:spPr>
          <a:xfrm>
            <a:off x="2876550" y="150495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A0AAF-1A7A-4E90-96F7-7AE59E24FEC0}"/>
              </a:ext>
            </a:extLst>
          </p:cNvPr>
          <p:cNvSpPr>
            <a:spLocks noGrp="1"/>
          </p:cNvSpPr>
          <p:nvPr/>
        </p:nvSpPr>
        <p:spPr>
          <a:xfrm>
            <a:off x="2971800" y="159067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76C10C7-C0F5-48AB-8789-7DF5EA2326B2}"/>
              </a:ext>
            </a:extLst>
          </p:cNvPr>
          <p:cNvSpPr>
            <a:spLocks noGrp="1"/>
          </p:cNvSpPr>
          <p:nvPr/>
        </p:nvSpPr>
        <p:spPr>
          <a:xfrm>
            <a:off x="5162550" y="1504950"/>
            <a:ext cx="257175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D43DE8-B0AD-4A0E-B482-4AC564839FFC}"/>
              </a:ext>
            </a:extLst>
          </p:cNvPr>
          <p:cNvSpPr>
            <a:spLocks noGrp="1"/>
          </p:cNvSpPr>
          <p:nvPr/>
        </p:nvSpPr>
        <p:spPr>
          <a:xfrm>
            <a:off x="5257800" y="159067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견적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50BD77-96BC-474C-8687-45DD40B65C5E}"/>
              </a:ext>
            </a:extLst>
          </p:cNvPr>
          <p:cNvSpPr>
            <a:spLocks noGrp="1"/>
          </p:cNvSpPr>
          <p:nvPr/>
        </p:nvSpPr>
        <p:spPr>
          <a:xfrm>
            <a:off x="7734300" y="1504950"/>
            <a:ext cx="354330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04BA3E-903C-40B4-BA47-DA781495CC0F}"/>
              </a:ext>
            </a:extLst>
          </p:cNvPr>
          <p:cNvSpPr>
            <a:spLocks noGrp="1"/>
          </p:cNvSpPr>
          <p:nvPr/>
        </p:nvSpPr>
        <p:spPr>
          <a:xfrm>
            <a:off x="7829550" y="1590675"/>
            <a:ext cx="3352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MOQ/메모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2C171A5-FFA9-4242-BC85-A565144281EA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EFED152-965F-4C22-B4CD-523D332B163D}"/>
              </a:ext>
            </a:extLst>
          </p:cNvPr>
          <p:cNvSpPr>
            <a:spLocks noGrp="1"/>
          </p:cNvSpPr>
          <p:nvPr/>
        </p:nvSpPr>
        <p:spPr>
          <a:xfrm>
            <a:off x="2876550" y="19050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26B213-960B-4C7E-9BA2-201254505D57}"/>
              </a:ext>
            </a:extLst>
          </p:cNvPr>
          <p:cNvSpPr>
            <a:spLocks noGrp="1"/>
          </p:cNvSpPr>
          <p:nvPr/>
        </p:nvSpPr>
        <p:spPr>
          <a:xfrm>
            <a:off x="5162550" y="19050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B9AAA6-4E1E-4854-903E-9558913E17C3}"/>
              </a:ext>
            </a:extLst>
          </p:cNvPr>
          <p:cNvSpPr>
            <a:spLocks noGrp="1"/>
          </p:cNvSpPr>
          <p:nvPr/>
        </p:nvSpPr>
        <p:spPr>
          <a:xfrm>
            <a:off x="7734300" y="19050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0FF67C-61A5-43D7-B5DB-5B94B0CFC17B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40C4C3-E4F6-45FE-A3BE-80E17BC0EBAA}"/>
              </a:ext>
            </a:extLst>
          </p:cNvPr>
          <p:cNvSpPr>
            <a:spLocks noGrp="1"/>
          </p:cNvSpPr>
          <p:nvPr/>
        </p:nvSpPr>
        <p:spPr>
          <a:xfrm>
            <a:off x="2990850" y="20097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83CD227-9210-4CEC-A38A-CD1224356E9B}"/>
              </a:ext>
            </a:extLst>
          </p:cNvPr>
          <p:cNvSpPr>
            <a:spLocks noGrp="1"/>
          </p:cNvSpPr>
          <p:nvPr/>
        </p:nvSpPr>
        <p:spPr>
          <a:xfrm>
            <a:off x="5276850" y="20097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80 RMB/kg · 약 16,800원/kg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FCA3B0-AF53-45FF-BAC0-5CCCB35E0112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100kg · 약 1,680,000원 /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다이소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사은품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SKU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후보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0E74AC-42F5-47EC-9E2D-77114AC0C185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B48F690-563A-480B-B264-4D89F55CD5FE}"/>
              </a:ext>
            </a:extLst>
          </p:cNvPr>
          <p:cNvSpPr>
            <a:spLocks noGrp="1"/>
          </p:cNvSpPr>
          <p:nvPr/>
        </p:nvSpPr>
        <p:spPr>
          <a:xfrm>
            <a:off x="2876550" y="23622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92D5B38-857A-4EBD-9832-AC267E98FDC1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B9C062-A71E-4B9A-999F-CCAE9AB90AA3}"/>
              </a:ext>
            </a:extLst>
          </p:cNvPr>
          <p:cNvSpPr>
            <a:spLocks noGrp="1"/>
          </p:cNvSpPr>
          <p:nvPr/>
        </p:nvSpPr>
        <p:spPr>
          <a:xfrm>
            <a:off x="7734300" y="23622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64D319E-9AE9-489D-B2E7-1FFC58E79868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091769-5FE0-4F43-91B0-E5895337E247}"/>
              </a:ext>
            </a:extLst>
          </p:cNvPr>
          <p:cNvSpPr>
            <a:spLocks noGrp="1"/>
          </p:cNvSpPr>
          <p:nvPr/>
        </p:nvSpPr>
        <p:spPr>
          <a:xfrm>
            <a:off x="2990850" y="24669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 계열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59B4D1-F331-4086-BC18-719FB43A9EE0}"/>
              </a:ext>
            </a:extLst>
          </p:cNvPr>
          <p:cNvSpPr>
            <a:spLocks noGrp="1"/>
          </p:cNvSpPr>
          <p:nvPr/>
        </p:nvSpPr>
        <p:spPr>
          <a:xfrm>
            <a:off x="5276850" y="24669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90 RMB/kg · 약 18,900원/kg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029F69-976B-4CBB-82E8-5A410A57E8AF}"/>
              </a:ext>
            </a:extLst>
          </p:cNvPr>
          <p:cNvSpPr>
            <a:spLocks noGrp="1"/>
          </p:cNvSpPr>
          <p:nvPr/>
        </p:nvSpPr>
        <p:spPr>
          <a:xfrm>
            <a:off x="7848600" y="24288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100kg · 약 1,890,000원 /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유통기한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18개월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가능성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체크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B96B988-4A2B-48E8-BA20-B2C84BAF4A54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B21C4C4-8E9A-4BA2-A7DF-F36FFEC1F00B}"/>
              </a:ext>
            </a:extLst>
          </p:cNvPr>
          <p:cNvSpPr>
            <a:spLocks noGrp="1"/>
          </p:cNvSpPr>
          <p:nvPr/>
        </p:nvSpPr>
        <p:spPr>
          <a:xfrm>
            <a:off x="2876550" y="28194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FD5BD4B-FF36-4960-BFF1-39268841A131}"/>
              </a:ext>
            </a:extLst>
          </p:cNvPr>
          <p:cNvSpPr>
            <a:spLocks noGrp="1"/>
          </p:cNvSpPr>
          <p:nvPr/>
        </p:nvSpPr>
        <p:spPr>
          <a:xfrm>
            <a:off x="5162550" y="28194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89498DF-BD00-43AE-B789-E23148A20872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B74C1B-A633-409B-9B89-03B397B37B98}"/>
              </a:ext>
            </a:extLst>
          </p:cNvPr>
          <p:cNvSpPr>
            <a:spLocks noGrp="1"/>
          </p:cNvSpPr>
          <p:nvPr/>
        </p:nvSpPr>
        <p:spPr>
          <a:xfrm>
            <a:off x="800100" y="29241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D11127-65D5-42FB-83B6-819D2F28A806}"/>
              </a:ext>
            </a:extLst>
          </p:cNvPr>
          <p:cNvSpPr>
            <a:spLocks noGrp="1"/>
          </p:cNvSpPr>
          <p:nvPr/>
        </p:nvSpPr>
        <p:spPr>
          <a:xfrm>
            <a:off x="2990850" y="29241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85g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D05E793-B5B2-4019-BE1A-F0FD9941477B}"/>
              </a:ext>
            </a:extLst>
          </p:cNvPr>
          <p:cNvSpPr>
            <a:spLocks noGrp="1"/>
          </p:cNvSpPr>
          <p:nvPr/>
        </p:nvSpPr>
        <p:spPr>
          <a:xfrm>
            <a:off x="5276850" y="29241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2 RMB/개 · 약 420원/개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1AEC19-016B-47AA-9925-875789143442}"/>
              </a:ext>
            </a:extLst>
          </p:cNvPr>
          <p:cNvSpPr>
            <a:spLocks noGrp="1"/>
          </p:cNvSpPr>
          <p:nvPr/>
        </p:nvSpPr>
        <p:spPr>
          <a:xfrm>
            <a:off x="7848600" y="28860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17"/>
          </a:bodyPr>
          <a:lstStyle/>
          <a:p>
            <a:pPr algn="l">
              <a:lnSpc>
                <a:spcPct val="115000"/>
              </a:lnSpc>
              <a:buNone/>
              <a:defRPr sz="8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20,000개 · 약 840만원 /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오프라인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후보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CE39A73-9E80-4BAA-BEB4-A54F847C8C3D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FC25BC9-3681-4D12-9690-D2DE2CA57731}"/>
              </a:ext>
            </a:extLst>
          </p:cNvPr>
          <p:cNvSpPr>
            <a:spLocks noGrp="1"/>
          </p:cNvSpPr>
          <p:nvPr/>
        </p:nvSpPr>
        <p:spPr>
          <a:xfrm>
            <a:off x="2876550" y="32766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59FCD73-7245-4A66-B49E-66B281667458}"/>
              </a:ext>
            </a:extLst>
          </p:cNvPr>
          <p:cNvSpPr>
            <a:spLocks noGrp="1"/>
          </p:cNvSpPr>
          <p:nvPr/>
        </p:nvSpPr>
        <p:spPr>
          <a:xfrm>
            <a:off x="5162550" y="32766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A8CEC61-CD92-4C33-8977-B91F571CF831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0CBCE0-DDFD-4874-B099-413577DA1661}"/>
              </a:ext>
            </a:extLst>
          </p:cNvPr>
          <p:cNvSpPr>
            <a:spLocks noGrp="1"/>
          </p:cNvSpPr>
          <p:nvPr/>
        </p:nvSpPr>
        <p:spPr>
          <a:xfrm>
            <a:off x="800100" y="33813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6F23AE-AC76-480B-828F-72A625986B6E}"/>
              </a:ext>
            </a:extLst>
          </p:cNvPr>
          <p:cNvSpPr>
            <a:spLocks noGrp="1"/>
          </p:cNvSpPr>
          <p:nvPr/>
        </p:nvSpPr>
        <p:spPr>
          <a:xfrm>
            <a:off x="2990850" y="33813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170g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1E74026-6C87-4EFC-8524-07E162A0547D}"/>
              </a:ext>
            </a:extLst>
          </p:cNvPr>
          <p:cNvSpPr>
            <a:spLocks noGrp="1"/>
          </p:cNvSpPr>
          <p:nvPr/>
        </p:nvSpPr>
        <p:spPr>
          <a:xfrm>
            <a:off x="5276850" y="33813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2.4 RMB/개 · 약 504원/개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88FF90-BF9A-4410-9DE9-E75CEB075AF8}"/>
              </a:ext>
            </a:extLst>
          </p:cNvPr>
          <p:cNvSpPr>
            <a:spLocks noGrp="1"/>
          </p:cNvSpPr>
          <p:nvPr/>
        </p:nvSpPr>
        <p:spPr>
          <a:xfrm>
            <a:off x="7848600" y="33432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20,000개 · 약 1,008만원 / 170g 캔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주력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후보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8B3DC79-4FEB-4222-BE06-6844512B1761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405ACB-D3C9-4315-B33B-AFB21929CCC2}"/>
              </a:ext>
            </a:extLst>
          </p:cNvPr>
          <p:cNvSpPr>
            <a:spLocks noGrp="1"/>
          </p:cNvSpPr>
          <p:nvPr/>
        </p:nvSpPr>
        <p:spPr>
          <a:xfrm>
            <a:off x="2876550" y="37338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DC311A1-4931-46E1-A061-232ED9AFFC89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36469E0-1E8D-4E2B-9992-760F392E432B}"/>
              </a:ext>
            </a:extLst>
          </p:cNvPr>
          <p:cNvSpPr>
            <a:spLocks noGrp="1"/>
          </p:cNvSpPr>
          <p:nvPr/>
        </p:nvSpPr>
        <p:spPr>
          <a:xfrm>
            <a:off x="7734300" y="37338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919CA6D-7351-4388-8B4F-FEEEA12FC725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6DD575-3FAA-41B1-9487-3FA6BCB9D6E6}"/>
              </a:ext>
            </a:extLst>
          </p:cNvPr>
          <p:cNvSpPr>
            <a:spLocks noGrp="1"/>
          </p:cNvSpPr>
          <p:nvPr/>
        </p:nvSpPr>
        <p:spPr>
          <a:xfrm>
            <a:off x="2990850" y="38385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B93D7A-A13F-491E-8487-3DE7B39B098D}"/>
              </a:ext>
            </a:extLst>
          </p:cNvPr>
          <p:cNvSpPr>
            <a:spLocks noGrp="1"/>
          </p:cNvSpPr>
          <p:nvPr/>
        </p:nvSpPr>
        <p:spPr>
          <a:xfrm>
            <a:off x="5276850" y="38385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75 RMB/kg · 약 15,750원/kg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D1F3140-35DB-4D2D-8966-CF146CCF7146}"/>
              </a:ext>
            </a:extLst>
          </p:cNvPr>
          <p:cNvSpPr>
            <a:spLocks noGrp="1"/>
          </p:cNvSpPr>
          <p:nvPr/>
        </p:nvSpPr>
        <p:spPr>
          <a:xfrm>
            <a:off x="7848600" y="38004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100~200kg · 약 157.5만~315만원 / 소용량 토핑 후보.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B304D8-F221-45BE-930D-CCB3B34D69AA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4096EF8-1438-44D9-A6BD-2511071F472D}"/>
              </a:ext>
            </a:extLst>
          </p:cNvPr>
          <p:cNvSpPr>
            <a:spLocks noGrp="1"/>
          </p:cNvSpPr>
          <p:nvPr/>
        </p:nvSpPr>
        <p:spPr>
          <a:xfrm>
            <a:off x="2876550" y="41910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7E4FAF9-04C4-4AB8-B4CD-CFB4EE2E111B}"/>
              </a:ext>
            </a:extLst>
          </p:cNvPr>
          <p:cNvSpPr>
            <a:spLocks noGrp="1"/>
          </p:cNvSpPr>
          <p:nvPr/>
        </p:nvSpPr>
        <p:spPr>
          <a:xfrm>
            <a:off x="5162550" y="41910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E038D87-A32B-43A6-B1C6-36EAF3CA27E2}"/>
              </a:ext>
            </a:extLst>
          </p:cNvPr>
          <p:cNvSpPr>
            <a:spLocks noGrp="1"/>
          </p:cNvSpPr>
          <p:nvPr/>
        </p:nvSpPr>
        <p:spPr>
          <a:xfrm>
            <a:off x="7734300" y="41910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0CB2B76-1C1D-4CD2-8652-C345930C1713}"/>
              </a:ext>
            </a:extLst>
          </p:cNvPr>
          <p:cNvSpPr>
            <a:spLocks noGrp="1"/>
          </p:cNvSpPr>
          <p:nvPr/>
        </p:nvSpPr>
        <p:spPr>
          <a:xfrm>
            <a:off x="800100" y="42957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FEA6AE1-E42D-4E38-B1A3-1E58D50F6785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난황/계란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019E8E-8EAE-4FFD-B470-1DA6710E7C1F}"/>
              </a:ext>
            </a:extLst>
          </p:cNvPr>
          <p:cNvSpPr>
            <a:spLocks noGrp="1"/>
          </p:cNvSpPr>
          <p:nvPr/>
        </p:nvSpPr>
        <p:spPr>
          <a:xfrm>
            <a:off x="5276850" y="42957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60 RMB/kg · 약 12,600원/kg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B4FE7FF-B360-4724-83F9-CB0F0DCA5091}"/>
              </a:ext>
            </a:extLst>
          </p:cNvPr>
          <p:cNvSpPr>
            <a:spLocks noGrp="1"/>
          </p:cNvSpPr>
          <p:nvPr/>
        </p:nvSpPr>
        <p:spPr>
          <a:xfrm>
            <a:off x="7848600" y="42576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517"/>
          </a:bodyPr>
          <a:lstStyle/>
          <a:p>
            <a:pPr algn="l">
              <a:lnSpc>
                <a:spcPct val="115000"/>
              </a:lnSpc>
              <a:buNone/>
              <a:defRPr sz="8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200kg · 약 252만원 /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보존제·</a:t>
            </a:r>
            <a:r>
              <a:rPr sz="10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유통기한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재확인</a:t>
            </a:r>
            <a:r>
              <a:rPr sz="90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4AAF941-BAB5-4668-B3B2-9B4CA89D9DDE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C390FD-5B23-45C5-B56A-1FDD6914204A}"/>
              </a:ext>
            </a:extLst>
          </p:cNvPr>
          <p:cNvSpPr>
            <a:spLocks noGrp="1"/>
          </p:cNvSpPr>
          <p:nvPr/>
        </p:nvSpPr>
        <p:spPr>
          <a:xfrm>
            <a:off x="2876550" y="46482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7D7A505-13E7-4A8D-BE25-0DA2D073010F}"/>
              </a:ext>
            </a:extLst>
          </p:cNvPr>
          <p:cNvSpPr>
            <a:spLocks noGrp="1"/>
          </p:cNvSpPr>
          <p:nvPr/>
        </p:nvSpPr>
        <p:spPr>
          <a:xfrm>
            <a:off x="5162550" y="46482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E78279E-9E20-422A-A05D-790E95572A5E}"/>
              </a:ext>
            </a:extLst>
          </p:cNvPr>
          <p:cNvSpPr>
            <a:spLocks noGrp="1"/>
          </p:cNvSpPr>
          <p:nvPr/>
        </p:nvSpPr>
        <p:spPr>
          <a:xfrm>
            <a:off x="7734300" y="46482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0C1A35D-2727-474D-847E-B4C0CD1D4892}"/>
              </a:ext>
            </a:extLst>
          </p:cNvPr>
          <p:cNvSpPr>
            <a:spLocks noGrp="1"/>
          </p:cNvSpPr>
          <p:nvPr/>
        </p:nvSpPr>
        <p:spPr>
          <a:xfrm>
            <a:off x="800100" y="47529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7A6E20F-21FC-4CA9-9E00-015B1B823046}"/>
              </a:ext>
            </a:extLst>
          </p:cNvPr>
          <p:cNvSpPr>
            <a:spLocks noGrp="1"/>
          </p:cNvSpPr>
          <p:nvPr/>
        </p:nvSpPr>
        <p:spPr>
          <a:xfrm>
            <a:off x="2990850" y="47529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703D1A0-5655-4455-BCD4-876770C26F3A}"/>
              </a:ext>
            </a:extLst>
          </p:cNvPr>
          <p:cNvSpPr>
            <a:spLocks noGrp="1"/>
          </p:cNvSpPr>
          <p:nvPr/>
        </p:nvSpPr>
        <p:spPr>
          <a:xfrm>
            <a:off x="5276850" y="47529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60 RMB/kg · 약 12,600원/kg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A50C232-F5F3-4F42-AE66-AAB936B2CF03}"/>
              </a:ext>
            </a:extLst>
          </p:cNvPr>
          <p:cNvSpPr>
            <a:spLocks noGrp="1"/>
          </p:cNvSpPr>
          <p:nvPr/>
        </p:nvSpPr>
        <p:spPr>
          <a:xfrm>
            <a:off x="7848600" y="47148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200~300kg · 약 2,520,000원~3,780,000원 / 포장비 제외.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BF88671-B7AC-445E-BAF6-CD00C6B03372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5DC8596-AABF-4535-93BE-CFFDEE3251EA}"/>
              </a:ext>
            </a:extLst>
          </p:cNvPr>
          <p:cNvSpPr>
            <a:spLocks noGrp="1"/>
          </p:cNvSpPr>
          <p:nvPr/>
        </p:nvSpPr>
        <p:spPr>
          <a:xfrm>
            <a:off x="2876550" y="51054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A1BE58B-1CB8-4167-92F2-69D8446FCB9D}"/>
              </a:ext>
            </a:extLst>
          </p:cNvPr>
          <p:cNvSpPr>
            <a:spLocks noGrp="1"/>
          </p:cNvSpPr>
          <p:nvPr/>
        </p:nvSpPr>
        <p:spPr>
          <a:xfrm>
            <a:off x="5162550" y="51054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87CB0C9C-4663-4103-8B7A-B1106F6A5E48}"/>
              </a:ext>
            </a:extLst>
          </p:cNvPr>
          <p:cNvSpPr>
            <a:spLocks noGrp="1"/>
          </p:cNvSpPr>
          <p:nvPr/>
        </p:nvSpPr>
        <p:spPr>
          <a:xfrm>
            <a:off x="7734300" y="51054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3B73DE3-5669-4326-9E6A-EC15F6C3180B}"/>
              </a:ext>
            </a:extLst>
          </p:cNvPr>
          <p:cNvSpPr>
            <a:spLocks noGrp="1"/>
          </p:cNvSpPr>
          <p:nvPr/>
        </p:nvSpPr>
        <p:spPr>
          <a:xfrm>
            <a:off x="800100" y="52101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C164183-FB98-4CD7-BEBB-35FB614CFDC2}"/>
              </a:ext>
            </a:extLst>
          </p:cNvPr>
          <p:cNvSpPr>
            <a:spLocks noGrp="1"/>
          </p:cNvSpPr>
          <p:nvPr/>
        </p:nvSpPr>
        <p:spPr>
          <a:xfrm>
            <a:off x="2990850" y="52101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6A251EA-D22F-494F-8A3E-7DC6BA0D70CA}"/>
              </a:ext>
            </a:extLst>
          </p:cNvPr>
          <p:cNvSpPr>
            <a:spLocks noGrp="1"/>
          </p:cNvSpPr>
          <p:nvPr/>
        </p:nvSpPr>
        <p:spPr>
          <a:xfrm>
            <a:off x="5276850" y="52101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62 RMB/kg · 약 13,020원/kg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97F0706-28CE-4322-A2F2-8D4D6876FE19}"/>
              </a:ext>
            </a:extLst>
          </p:cNvPr>
          <p:cNvSpPr>
            <a:spLocks noGrp="1"/>
          </p:cNvSpPr>
          <p:nvPr/>
        </p:nvSpPr>
        <p:spPr>
          <a:xfrm>
            <a:off x="7848600" y="5172075"/>
            <a:ext cx="331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8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200~300kg · 약 260.4만~390.6만원 / 포장비 제외.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A4706EA-7EBC-484F-82AB-E21907EC983D}"/>
              </a:ext>
            </a:extLst>
          </p:cNvPr>
          <p:cNvSpPr>
            <a:spLocks noGrp="1"/>
          </p:cNvSpPr>
          <p:nvPr/>
        </p:nvSpPr>
        <p:spPr>
          <a:xfrm>
            <a:off x="685800" y="5648325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5CC"/>
          </a:solidFill>
          <a:ln w="9525">
            <a:solidFill>
              <a:srgbClr val="E9C74F"/>
            </a:solidFill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CD08A5F-3903-471F-B673-D4D57DF25261}"/>
              </a:ext>
            </a:extLst>
          </p:cNvPr>
          <p:cNvSpPr>
            <a:spLocks noGrp="1"/>
          </p:cNvSpPr>
          <p:nvPr/>
        </p:nvSpPr>
        <p:spPr>
          <a:xfrm>
            <a:off x="895350" y="5772150"/>
            <a:ext cx="1009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FOB/CIF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조건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포장비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포함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여부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MOQ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서류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</a:t>
            </a:r>
            <a:r>
              <a:rPr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리드타임</a:t>
            </a:r>
            <a:r>
              <a:rPr lang="en-US"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등 동일 조건 단가 비교 후 추가 보고 드리겠습니다</a:t>
            </a:r>
            <a:r>
              <a:rPr lang="en-US" altLang="ko-KR" sz="120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200" b="1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78C09261-E740-85A8-9DCF-55A5B042E343}"/>
              </a:ext>
            </a:extLst>
          </p:cNvPr>
          <p:cNvSpPr>
            <a:spLocks noGrp="1"/>
          </p:cNvSpPr>
          <p:nvPr/>
        </p:nvSpPr>
        <p:spPr>
          <a:xfrm>
            <a:off x="665594" y="6162675"/>
            <a:ext cx="10648950" cy="552450"/>
          </a:xfrm>
          <a:prstGeom prst="roundRect">
            <a:avLst>
              <a:gd name="adj" fmla="val 1379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A726E13-4FB8-C628-9DE5-0848A8CB708D}"/>
              </a:ext>
            </a:extLst>
          </p:cNvPr>
          <p:cNvSpPr>
            <a:spLocks noGrp="1"/>
          </p:cNvSpPr>
          <p:nvPr/>
        </p:nvSpPr>
        <p:spPr>
          <a:xfrm>
            <a:off x="895350" y="633412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r>
              <a:rPr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캔은</a:t>
            </a:r>
            <a:r>
              <a:rPr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Ningbo Today Food, </a:t>
            </a:r>
            <a:r>
              <a:rPr sz="13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간식은</a:t>
            </a:r>
            <a:r>
              <a:rPr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Jinchong·Wonderful</a:t>
            </a:r>
            <a:r>
              <a:rPr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Kitchen </a:t>
            </a:r>
            <a:r>
              <a:rPr sz="13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중심으로</a:t>
            </a:r>
            <a:r>
              <a:rPr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 업무 진행하려 합니다</a:t>
            </a:r>
            <a:r>
              <a:rPr lang="en-US" altLang="ko-KR" sz="13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3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612397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2380</Words>
  <Application>Microsoft Office PowerPoint</Application>
  <DocSecurity>0</DocSecurity>
  <PresentationFormat>와이드스크린</PresentationFormat>
  <Paragraphs>307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CHOIIH</cp:lastModifiedBy>
  <cp:revision>4</cp:revision>
  <dcterms:created xsi:type="dcterms:W3CDTF">2026-08-26T06:36:06Z</dcterms:created>
  <dcterms:modified xsi:type="dcterms:W3CDTF">2026-08-27T00:19:49Z</dcterms:modified>
</cp:coreProperties>
</file>